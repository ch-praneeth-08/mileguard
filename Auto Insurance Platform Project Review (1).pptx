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</ns0:sldIdLst>
  <ns0:sldSz cx="12192000" cy="6858000" type="screen4x3"/>
  <ns0:notesSz cx="6858000" cy="9144000"/>
  <ns0:embeddedFontLst>
    <ns0:embeddedFont>
      <ns0:font typeface="Plus Jakarta Sans"/>
      <ns0:bold ns1:id="rIdFont25"/>
      <ns0:regular ns1:id="rIdFont2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Font25" Type="http://schemas.openxmlformats.org/officeDocument/2006/relationships/font" Target="fonts/9ccbb423-1519-46da-8b65-ba7de16c26d1.fntdata" /><ns0:Relationship Id="rIdFont26" Type="http://schemas.openxmlformats.org/officeDocument/2006/relationships/font" Target="fonts/45697891-407d-462c-9bac-2be62e3abfc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790926"/>
            <a:ext cx="85725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790926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09823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324123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971823"/>
            <a:ext cx="9101137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Plus Jakarta Sans"/>
              </a:rPr>
              <a:t>Auto Insurance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41365"/>
            <a:ext cx="7715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End-to-end vehicle insurance workflow using Angular and ASP.NET Core microservices.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1338411"/>
            <a:ext cx="1774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105251"/>
            <a:ext cx="2297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429101"/>
            <a:ext cx="2297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Plus Jakarta Sans"/>
              </a:rPr>
              <a:t>[Student / Team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5125" y="5105251"/>
            <a:ext cx="1400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PROJECT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5125" y="5429101"/>
            <a:ext cx="1400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Plus Jakarta Sans"/>
              </a:rPr>
              <a:t>[Guide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5105251"/>
            <a:ext cx="178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INSTITUTION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5429101"/>
            <a:ext cx="1785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Plus Jakarta Sans"/>
              </a:rPr>
              <a:t>[Institution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66900"/>
            <a:ext cx="3454449" cy="43815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866900"/>
            <a:ext cx="3454449" cy="43815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866900"/>
            <a:ext cx="3454449" cy="43815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257425"/>
            <a:ext cx="2673399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2257425"/>
            <a:ext cx="2673399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2257425"/>
            <a:ext cx="2673399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Manual hand-offs break the insurance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790825"/>
            <a:ext cx="350883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Fragmented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228975"/>
            <a:ext cx="27686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Disconnected data across customer profiling, quoting, and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374" y="2790825"/>
            <a:ext cx="350883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Unclear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9374" y="3228975"/>
            <a:ext cx="27686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Agents, underwriters, and claims officers operate in silos.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2790825"/>
            <a:ext cx="350883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Weak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8624" y="3228975"/>
            <a:ext cx="27686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Difficult to track policy status from initial quote to final settlement.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09862" y="3586162"/>
            <a:ext cx="6772275" cy="2066925"/>
          </a:xfrm>
          <a:prstGeom prst="roundRect">
            <a:avLst>
              <a:gd name="adj" fmla="val 7373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7650" y="4052887"/>
            <a:ext cx="762000" cy="76200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2" y="4505325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487" y="4505325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4052887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4052887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25" y="4281487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075" y="4281487"/>
            <a:ext cx="3810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4281487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Plus Jakarta Sans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23925"/>
            <a:ext cx="11582400" cy="1457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Plus Jakarta Sans"/>
              </a:rPr>
              <a:t>One customer journey.</a:t>
            </a:r>
            <a:r>
              <a:t>
</a:t>
            </a:r>
            <a:r>
              <a:rPr b="1" sz="3000" i="0" u="none">
                <a:solidFill>
                  <a:srgbClr val="FFFFFF"/>
                </a:solidFill>
                <a:latin typeface="Plus Jakarta Sans"/>
              </a:rPr>
              <a:t> Clear service ownership.</a:t>
            </a:r>
            <a:r>
              <a:t>
</a:t>
            </a:r>
            <a:r>
              <a:rPr b="1" sz="3000" i="0" u="none">
                <a:solidFill>
                  <a:srgbClr val="FFFFFF"/>
                </a:solidFill>
                <a:latin typeface="Plus Jakarta Sans"/>
              </a:rPr>
              <a:t> Controlled hand-offs.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6587" y="4967287"/>
            <a:ext cx="1988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Unified Role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462" y="4967287"/>
            <a:ext cx="1323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1887" y="4967287"/>
            <a:ext cx="1916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6 Isolated Domains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9375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619375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19375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619375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171950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9950" y="4171950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4171950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0650" y="4171950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57500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85750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85750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2857500"/>
            <a:ext cx="1714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410075"/>
            <a:ext cx="2857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8075" y="4410075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4410075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8775" y="441007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PLATFORM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Functional scope at a glance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2385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Identity &amp;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53377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JWT registration and roles.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075" y="32385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Customer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075" y="353377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Driver and vehicle profiles.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32385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Agent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353377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Dedicated support linking.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32385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Quotes &amp; 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353377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Coverage configuration.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79107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Underwriting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50863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Risk review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075" y="479107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Policy &amp; 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8075" y="50863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Issuance and installments.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8425" y="479107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Claims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8425" y="50863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Submission to settlement.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8775" y="479107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Admin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8775" y="50863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System oversight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8350"/>
            <a:ext cx="10972800" cy="40005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748" y="2671762"/>
            <a:ext cx="207258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729" y="2671762"/>
            <a:ext cx="207258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9709" y="2581275"/>
            <a:ext cx="2072580" cy="22479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4690" y="2671762"/>
            <a:ext cx="207258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670" y="2671762"/>
            <a:ext cx="207258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848350"/>
            <a:ext cx="38100" cy="400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339" y="2986087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319" y="2986087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895600"/>
            <a:ext cx="533400" cy="533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280" y="2986087"/>
            <a:ext cx="53340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260" y="2986087"/>
            <a:ext cx="533400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026" y="3138487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007" y="3138487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5" y="3048000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6680" y="3138487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1660" y="3138487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User roles and responsibilities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5962650"/>
            <a:ext cx="11391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2400E"/>
                </a:solidFill>
                <a:latin typeface="Plus Jakarta Sans"/>
              </a:rPr>
              <a:t>Note: Claims Adjuster identity role string alignment pending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960" y="3671887"/>
            <a:ext cx="1250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210" y="4024312"/>
            <a:ext cx="1821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Provides profile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835" y="4243387"/>
            <a:ext cx="1726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Accepts final offers.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5963" y="3671887"/>
            <a:ext cx="89011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7582" y="4024312"/>
            <a:ext cx="1666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Configures quotes.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6144" y="4243387"/>
            <a:ext cx="1809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Submits initial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5942" y="3581400"/>
            <a:ext cx="92011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9687" y="3933825"/>
            <a:ext cx="195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Assigns platform 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8293" y="4152900"/>
            <a:ext cx="199541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Configures base pricing.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5889" y="3671887"/>
            <a:ext cx="14501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Underwriter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2292" y="4024312"/>
            <a:ext cx="185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Assesses risk metrics.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6574" y="4243387"/>
            <a:ext cx="1928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Makes offer decisions.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3353" y="3671887"/>
            <a:ext cx="172521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Claims Officer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0148" y="4024312"/>
            <a:ext cx="1571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Reviews incidents.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6335" y="4243387"/>
            <a:ext cx="1619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Settles and closes.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End-to-end customer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1100" y="2400300"/>
            <a:ext cx="9829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25909" y="34051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529" y="34051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09768" y="34051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04387" y="34051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148" y="3405187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136" y="3671887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3034" y="3405187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D9488"/>
                </a:solidFill>
                <a:latin typeface="Plus Jakarta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23" y="4395787"/>
            <a:ext cx="13801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862" y="4691062"/>
            <a:ext cx="2274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Register &amp; complete profiles.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7654" y="3405187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D9488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464" y="4395787"/>
            <a:ext cx="104013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4982" y="4691062"/>
            <a:ext cx="1893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Agent configures quote.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065" y="4395787"/>
            <a:ext cx="13301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A580C"/>
                </a:solidFill>
                <a:latin typeface="Plus Jakarta Sans"/>
              </a:rPr>
              <a:t>Risk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445" y="4691062"/>
            <a:ext cx="2107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Underwriter offer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6893" y="3405187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D9488"/>
                </a:solidFill>
                <a:latin typeface="Plus Jakarta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0690" y="4395787"/>
            <a:ext cx="124015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Fulfillment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877" y="4691062"/>
            <a:ext cx="2059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Customer accepts &amp; pays.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1512" y="3405187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D9488"/>
                </a:solidFill>
                <a:latin typeface="Plus Jakarta San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5316" y="4395787"/>
            <a:ext cx="11401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7200" y="4691062"/>
            <a:ext cx="1476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Renewals &amp;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57875" y="2643187"/>
            <a:ext cx="5724525" cy="2828925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537" y="3109912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52775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57625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62475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PRICING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Configurable quotes and rating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7473" y="3795712"/>
            <a:ext cx="262532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Data Preservation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0" y="4233862"/>
            <a:ext cx="35718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Finalized quotes generate permanent snapshots to preserve exact historical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114675"/>
            <a:ext cx="381297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Context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390900"/>
            <a:ext cx="3631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Vehicle risk context, limits, and add-ons.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19525"/>
            <a:ext cx="442555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Dynamic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095750"/>
            <a:ext cx="4214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Rating rules use configured calculation factors.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524375"/>
            <a:ext cx="40255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Admin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800600"/>
            <a:ext cx="3833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Admins configure base pricing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19300"/>
            <a:ext cx="2288381" cy="4229100"/>
          </a:xfrm>
          <a:prstGeom prst="roundRect">
            <a:avLst>
              <a:gd name="adj" fmla="val 33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98056" y="2019300"/>
            <a:ext cx="2288381" cy="4229100"/>
          </a:xfrm>
          <a:prstGeom prst="roundRect">
            <a:avLst>
              <a:gd name="adj" fmla="val 33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86512" y="2019300"/>
            <a:ext cx="2288381" cy="4229100"/>
          </a:xfrm>
          <a:prstGeom prst="roundRect">
            <a:avLst>
              <a:gd name="adj" fmla="val 33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74968" y="2019300"/>
            <a:ext cx="2307431" cy="42291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81" y="4019550"/>
            <a:ext cx="1428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037" y="4019550"/>
            <a:ext cx="1428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93" y="4019550"/>
            <a:ext cx="14287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RISK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Underwriting review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333625"/>
            <a:ext cx="20746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657475"/>
            <a:ext cx="21783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Initiation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009900"/>
            <a:ext cx="17549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Finalized quote generates application snapshot.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2381" y="2333625"/>
            <a:ext cx="20746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2381" y="2657475"/>
            <a:ext cx="21783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2381" y="3009900"/>
            <a:ext cx="175498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Admin assigns an available Underwriter.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0837" y="2333625"/>
            <a:ext cx="20746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0837" y="2657475"/>
            <a:ext cx="21783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0837" y="3009900"/>
            <a:ext cx="175498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Review Driver, Vehicle, and Overall Risk.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8818" y="2343150"/>
            <a:ext cx="20746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8818" y="2667000"/>
            <a:ext cx="21783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8818" y="3019425"/>
            <a:ext cx="17549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Approve/Reject history drives offer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66900"/>
            <a:ext cx="3454449" cy="438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8849" y="1866900"/>
            <a:ext cx="3454449" cy="438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1866900"/>
            <a:ext cx="3454449" cy="438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866900"/>
            <a:ext cx="34544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1866900"/>
            <a:ext cx="34544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1866900"/>
            <a:ext cx="34544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FULFILLMENT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Purchase, policy, and billing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286000"/>
            <a:ext cx="353384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1. Acceptance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724150"/>
            <a:ext cx="27876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Customer accepts the verified offer.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314700"/>
            <a:ext cx="27876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System triggers purchase configuration.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849" y="2286000"/>
            <a:ext cx="353384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2. Issuance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849" y="2724150"/>
            <a:ext cx="27876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Successful validation triggers issuance.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849" y="3314700"/>
            <a:ext cx="27876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Creates policy snapshot and documents.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9099" y="2286000"/>
            <a:ext cx="353384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3. Servicing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9099" y="2724150"/>
            <a:ext cx="27876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Installment schedules and renewals.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99" y="3390900"/>
            <a:ext cx="27876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EA580C"/>
                </a:solidFill>
                <a:latin typeface="Plus Jakarta Sans"/>
              </a:rPr>
              <a:t>* Payment behavior currently simulated.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62150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48000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33850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219700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2002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861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3719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45782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2333625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" y="3419475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87" y="4505325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2" y="5591175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POST-SALE SERVICING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Claims lifecycle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3525" y="2209800"/>
            <a:ext cx="67758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3525" y="2466975"/>
            <a:ext cx="6453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Agent submits claim details (incident type, estimated loss) for the customer.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3295650"/>
            <a:ext cx="59757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3525" y="3552825"/>
            <a:ext cx="569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Admin reviews unassigned claims and allocates to a Claims Officer.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4381500"/>
            <a:ext cx="52881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4638675"/>
            <a:ext cx="5036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Claims Officer initiates review. Explicitly approves or rejects.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3525" y="5467350"/>
            <a:ext cx="59382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4.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3525" y="5724525"/>
            <a:ext cx="5655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Approved claims settled. Customer retains live visibility into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72012" y="1790700"/>
            <a:ext cx="2847975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91000" y="3000375"/>
            <a:ext cx="3810000" cy="523875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451" y="4171950"/>
            <a:ext cx="1701849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3700" y="4171950"/>
            <a:ext cx="1701849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4171950"/>
            <a:ext cx="1701849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4171950"/>
            <a:ext cx="1701849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6449" y="4171950"/>
            <a:ext cx="1701849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80699" y="4171950"/>
            <a:ext cx="1701849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1376" y="4581525"/>
            <a:ext cx="1377999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25625" y="4581525"/>
            <a:ext cx="1377999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9875" y="4581525"/>
            <a:ext cx="1377999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4125" y="4581525"/>
            <a:ext cx="1377999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8374" y="4581525"/>
            <a:ext cx="1377999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42624" y="4581525"/>
            <a:ext cx="1377999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2" y="2581275"/>
            <a:ext cx="1428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2" y="3752850"/>
            <a:ext cx="1428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SYSTEM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Microservices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3800" y="5305425"/>
            <a:ext cx="5905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Six isolated ASP.NET Core services. Six separate EF Core database contexts.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2094" y="1962150"/>
            <a:ext cx="248781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Browser (Angular SPA)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5762" y="3152775"/>
            <a:ext cx="3800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Ocelot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126" y="4333875"/>
            <a:ext cx="17224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126" y="4695825"/>
            <a:ext cx="17224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IdentityDb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3375" y="4333875"/>
            <a:ext cx="17224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3375" y="4695825"/>
            <a:ext cx="17224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CustomerDb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7625" y="4333875"/>
            <a:ext cx="17224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QuoteRating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7625" y="4695825"/>
            <a:ext cx="17224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QuoteDb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1875" y="4333875"/>
            <a:ext cx="17224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Underwriting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1875" y="4695825"/>
            <a:ext cx="17224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UnderwriteDb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6124" y="4333875"/>
            <a:ext cx="17224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PolicyBilling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6124" y="4695825"/>
            <a:ext cx="17224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PolicyDb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0374" y="4333875"/>
            <a:ext cx="17224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Claims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0374" y="4695825"/>
            <a:ext cx="17224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ClaimsDb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2225"/>
            <a:ext cx="3505051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251" y="2562225"/>
            <a:ext cx="3505051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6902" y="2562225"/>
            <a:ext cx="3505051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171950"/>
            <a:ext cx="3505051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251" y="4171950"/>
            <a:ext cx="3505051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6902" y="4171950"/>
            <a:ext cx="3505051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876550"/>
            <a:ext cx="377527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228975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Angular, TypeScript.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448050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Reactive Forms, RxJS.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576" y="2876550"/>
            <a:ext cx="377527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Backend &amp;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576" y="3228975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ASP.NET Core Web 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576" y="3448050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Ocelot API Gateway.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227" y="2876550"/>
            <a:ext cx="377527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227" y="3228975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EF Core, SQL Server LocalDB.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227" y="3448050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One DB context per service.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486275"/>
            <a:ext cx="377527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Auth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838700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ASP.NET Core Identity.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5057775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JWT Bearer, 2FA.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7576" y="4486275"/>
            <a:ext cx="377527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7576" y="4838700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Typed HttpClient.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576" y="5057775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Serilog SQL sinks.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1227" y="4486275"/>
            <a:ext cx="377527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Testing Frameworks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1227" y="4838700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xUnit backend tests.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1227" y="5057775"/>
            <a:ext cx="35955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Playwright browser tests.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48350" y="2800350"/>
            <a:ext cx="5734050" cy="2667000"/>
          </a:xfrm>
          <a:prstGeom prst="roundRect">
            <a:avLst>
              <a:gd name="adj" fmla="val 428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0992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1477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1962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32766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Authentication and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482" y="3962400"/>
            <a:ext cx="627578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Lifetimes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6906" y="4400550"/>
            <a:ext cx="59769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Access token: 15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6906" y="4733925"/>
            <a:ext cx="59769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Refresh session: 7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32099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391477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46196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latin typeface="Plus Jakarta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190875"/>
            <a:ext cx="40130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Token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467100"/>
            <a:ext cx="3821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Login → Access JWT attached to requests.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3895725"/>
            <a:ext cx="3700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4171950"/>
            <a:ext cx="3524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Role and ownership checks at API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600575"/>
            <a:ext cx="398799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Session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4876800"/>
            <a:ext cx="3798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Cookie-based refresh handles 401 retries.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91200" y="1866900"/>
            <a:ext cx="5791200" cy="4381500"/>
          </a:xfrm>
          <a:prstGeom prst="roundRect">
            <a:avLst>
              <a:gd name="adj" fmla="val 260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866900"/>
            <a:ext cx="4876800" cy="933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52750"/>
            <a:ext cx="4876800" cy="933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038600"/>
            <a:ext cx="4876800" cy="933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866900"/>
            <a:ext cx="38100" cy="933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952750"/>
            <a:ext cx="38100" cy="933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038600"/>
            <a:ext cx="38100" cy="933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214687"/>
            <a:ext cx="48768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DATA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Data ownership and database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3824287"/>
            <a:ext cx="59436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Plus Jakarta Sans"/>
              </a:rPr>
              <a:t>Distributed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4310062"/>
            <a:ext cx="59436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IDs are shared across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4643437"/>
            <a:ext cx="59436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Zero cross-database foreign keys.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095500"/>
            <a:ext cx="5750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IdentityDb &amp; CustomerVehicleDb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390775"/>
            <a:ext cx="5476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Auth tables, profiles, and vehicle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181350"/>
            <a:ext cx="5750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QuoteRatingDb &amp; UnderwritingDb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476625"/>
            <a:ext cx="5476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Rules, quote snapshots, and review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267200"/>
            <a:ext cx="5750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PolicyBillingDb &amp; ClaimsDb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4562475"/>
            <a:ext cx="5476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Policy snapshots, schedules, and claims.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7950"/>
            <a:ext cx="53721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47950"/>
            <a:ext cx="53721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71950"/>
            <a:ext cx="53721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171950"/>
            <a:ext cx="53721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143250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14325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4667250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466725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Resilience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5425" y="3038475"/>
            <a:ext cx="41005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5425" y="3352800"/>
            <a:ext cx="390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Snapshots prevent historical data mutation.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4225" y="3038475"/>
            <a:ext cx="371296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Error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4225" y="3352800"/>
            <a:ext cx="3536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Explicit 400/401/403/404/409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725" y="4562475"/>
            <a:ext cx="40130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Integration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725" y="4876800"/>
            <a:ext cx="3821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Timeouts managed via typed HTTP clients.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4225" y="4562475"/>
            <a:ext cx="381297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Auditability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4225" y="4876800"/>
            <a:ext cx="3631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Claim pricing audits and status histories.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05550" y="1866900"/>
            <a:ext cx="5276850" cy="438150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75" y="3652837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52775"/>
            <a:ext cx="28575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57625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62475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QUALITY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Current testing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0" y="4262437"/>
            <a:ext cx="4976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[Evidence Placeholder: Actual test output or DB record]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3114675"/>
            <a:ext cx="42505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Backend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3390900"/>
            <a:ext cx="4048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xUnit projects visible; integration in progress.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819525"/>
            <a:ext cx="36004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Frontend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4095750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Playwright browser testing is planned.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524375"/>
            <a:ext cx="42005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Test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800600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SQL Server LocalDB used for current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16913" y="1104900"/>
            <a:ext cx="2465486" cy="30480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66900"/>
            <a:ext cx="664458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82780" y="1866900"/>
            <a:ext cx="4099619" cy="2076450"/>
          </a:xfrm>
          <a:prstGeom prst="roundRect">
            <a:avLst>
              <a:gd name="adj" fmla="val 3669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82780" y="4171950"/>
            <a:ext cx="4099619" cy="2076450"/>
          </a:xfrm>
          <a:prstGeom prst="roundRect">
            <a:avLst>
              <a:gd name="adj" fmla="val 3669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5560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LIVE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3925"/>
            <a:ext cx="5838229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Platform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9313" y="1181100"/>
            <a:ext cx="270085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monospace"/>
              </a:rPr>
              <a:t>ENV: [Editable Build Label]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7827" y="3957637"/>
            <a:ext cx="4048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[Placeholder: Frontend workflow screenshot]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7590" y="2805112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[Placeholder: API request/response or log]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5215" y="5110162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[Placeholder: Persisted database record]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19625"/>
            <a:ext cx="10972800" cy="904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6196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05125"/>
            <a:ext cx="5257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2905125"/>
            <a:ext cx="5257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3335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478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Plus Jakarta Sans"/>
              </a:rPr>
              <a:t>Current gaps and 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81000" y="4933950"/>
            <a:ext cx="12954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Plus Jakarta Sans"/>
              </a:rPr>
              <a:t>The platform links each stage of the insurance lifecycle while keeping domain ownership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5324475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4A3B8"/>
                </a:solidFill>
                <a:latin typeface="Plus Jakarta Sans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590800"/>
            <a:ext cx="562070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D9488"/>
                </a:solidFill>
                <a:latin typeface="Plus Jakarta Sans"/>
              </a:rPr>
              <a:t>Release Blockers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590800"/>
            <a:ext cx="562070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D9488"/>
                </a:solidFill>
                <a:latin typeface="Plus Jakarta Sans"/>
              </a:rPr>
              <a:t>Future 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067050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Roles: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Reconcile Claims Adjuster definition.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381375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Gateway: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Validate Ocelot routes.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695700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Contracts: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Verify QuoteRating server definitions.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067050"/>
            <a:ext cx="5867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Payments: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Real provider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3381375"/>
            <a:ext cx="5867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Events: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State-change notifications.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3695700"/>
            <a:ext cx="5867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Operations: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Replace LocalDB; establish RPO/RTO.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