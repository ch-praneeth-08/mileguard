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arlow SemiBold"/>
      <p:regular r:id="rId201314"/>
    </p:embeddedFont>
    <p:embeddedFont>
      <p:font typeface="Barlow"/>
      <p:regular r:id="rId201315"/>
    </p:embeddedFont>
    <p:embeddedFont>
      <p:font typeface="Barlow Bold"/>
      <p:regular r:id="rId201316"/>
    </p:embeddedFont>
    <p:embeddedFont>
      <p:font typeface="Roboto Mono Medium"/>
      <p:regular r:id="rId201317"/>
    </p:embeddedFont>
    <p:embeddedFont>
      <p:font typeface="Roboto Mono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review follows the end-to-end vehicle insurance workflow built with Angular and ASP.NET Core microservices. The cover keeps the technology and editable presentation credits visible without implying production readiness. Implementation details are source-visible where identified, while verification remains in progress; the next slide explains the workflow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the number of hand-offs across customer data, pricing, risk, policy, billing and claims. The separated blocks make those boundaries visible rather than presenting an unsupported performance metric. This is the stated workflow problem, not a measured implementation result; next comes the ownership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described as six domains, each with its own context and database, beneath a role-based shared platform. Repeated editable boxes express that ownership contract without inventing service names or database wiring. The approved scope does not verify deployment or gateway mappings; the next slide separates functional modules from service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tiles are functional modules, not eight independent services. Equal treatment keeps the scope easy to scan and avoids showing every endpoint or database column. They represent the source-visible scope rather than a claim that every path is verified; next we identify the five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role cards distinguish the customer, assisting agent, assigning admin and two decision-making roles. The Claims Adjuster versus ClaimsOfficer mismatch is shown openly because role-string alignment is still being verified. These responsibilities are source-visible, but that alignment remains in progress; the timeline now shows how the actors hand work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preserves the journey from registration through servicing, renewal and claims. Gate outlines draw attention to finalization, the offer decision and policy issuance without inventing additional workflow states. This is the source-visible journey description, not proof that every customer endpoint is verified; the next slide focuses on quote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flow distinguishes customer and risk inputs from configurable calculation factors and preserved quote values. No fixed formula is shown because the supplied material describes rating rules rather than a single equation. Configuration and snapshot behavior are source-visible, with no pricing accuracy or test-result claim; next the finalized quote enters underwriting.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follows the finalized quote through a snapshot and admin assignment to the underwriter's review and decision. Read the process across the top row and then across the bottom row; the decision outline distinguishes approval or rejection from routine hand-offs. History and decision records are source-visible, while customer-side endpoints remain pending verification; the accepted-offer path leads into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source-visible purchase path starts with an accepted offer and reaches policy issuance on the validated path. Payment behavior is simulated in the supplied implementation, so this diagram does not claim an external payment integration is live. The record and servicing bands separate issued-policy information from later actions; next we follow the claims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carries the stated sequence from agent submission through assignment, review, decision, settlement, closure and customer status visibility. The decision gate is distinct from later lifecycle stages; the diagram does not assert that a rejected claim must be settled. The workflow and listed data are source-visible, while Claims Adjuster versus ClaimsOfficer alignment remains in progress. For review questions, distinguish those visible records from behavior still pending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9F6"/>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8127797" cy="6858000"/>
          </a:xfrm>
          <a:prstGeom prst="rect">
            <a:avLst/>
          </a:prstGeom>
          <a:solidFill>
            <a:srgbClr val="142D40"/>
          </a:solidFill>
          <a:ln/>
        </p:spPr>
      </p:sp>
      <p:sp>
        <p:nvSpPr>
          <p:cNvPr id="3" name="Text 1"/>
          <p:cNvSpPr/>
          <p:nvPr/>
        </p:nvSpPr>
        <p:spPr>
          <a:xfrm>
            <a:off x="558786" y="566230"/>
            <a:ext cx="7569011"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FFFFFF"/>
                </a:solidFill>
                <a:latin typeface="Roboto Mono Bold" pitchFamily="34" charset="0"/>
                <a:ea typeface="Roboto Mono Bold" pitchFamily="34" charset="-122"/>
                <a:cs typeface="Roboto Mono Bold" pitchFamily="34" charset="-120"/>
              </a:rPr>
              <a:t>ANGULAR · ASP.NET CORE MICROSERVICES</a:t>
            </a:r>
            <a:endParaRPr lang="en-US" sz="1400" dirty="0"/>
          </a:p>
        </p:txBody>
      </p:sp>
      <p:sp>
        <p:nvSpPr>
          <p:cNvPr id="4" name="Text 2"/>
          <p:cNvSpPr/>
          <p:nvPr/>
        </p:nvSpPr>
        <p:spPr>
          <a:xfrm>
            <a:off x="558786" y="1548902"/>
            <a:ext cx="7010225" cy="1206897"/>
          </a:xfrm>
          <a:prstGeom prst="rect">
            <a:avLst/>
          </a:prstGeom>
          <a:noFill/>
          <a:ln/>
        </p:spPr>
        <p:txBody>
          <a:bodyPr wrap="square" lIns="0" tIns="0" rIns="0" bIns="0" rtlCol="0" anchor="t">
            <a:normAutofit/>
          </a:bodyPr>
          <a:lstStyle/>
          <a:p>
            <a:pPr algn="l" indent="0" marL="0">
              <a:lnSpc>
                <a:spcPct val="90000"/>
              </a:lnSpc>
              <a:buNone/>
            </a:pPr>
            <a:r>
              <a:rPr lang="en-US" sz="4400" b="1" spc="-44" kern="100" dirty="0">
                <a:solidFill>
                  <a:srgbClr val="FFFFFF"/>
                </a:solidFill>
                <a:latin typeface="Barlow Bold" pitchFamily="34" charset="0"/>
                <a:ea typeface="Barlow Bold" pitchFamily="34" charset="-122"/>
                <a:cs typeface="Barlow Bold" pitchFamily="34" charset="-120"/>
              </a:rPr>
              <a:t>Auto Insurance</a:t>
            </a:r>
            <a:endParaRPr lang="en-US" sz="4400" dirty="0"/>
          </a:p>
          <a:p>
            <a:pPr algn="l" indent="0" marL="0">
              <a:lnSpc>
                <a:spcPct val="90000"/>
              </a:lnSpc>
              <a:buNone/>
            </a:pPr>
            <a:r>
              <a:rPr lang="en-US" sz="4400" b="1" spc="-44" kern="100" dirty="0">
                <a:solidFill>
                  <a:srgbClr val="FFFFFF"/>
                </a:solidFill>
                <a:latin typeface="Barlow Bold" pitchFamily="34" charset="0"/>
                <a:ea typeface="Barlow Bold" pitchFamily="34" charset="-122"/>
                <a:cs typeface="Barlow Bold" pitchFamily="34" charset="-120"/>
              </a:rPr>
              <a:t>Management Platform</a:t>
            </a:r>
            <a:endParaRPr lang="en-US" sz="4400" dirty="0"/>
          </a:p>
        </p:txBody>
      </p:sp>
      <p:sp>
        <p:nvSpPr>
          <p:cNvPr id="5" name="Shape 3"/>
          <p:cNvSpPr/>
          <p:nvPr/>
        </p:nvSpPr>
        <p:spPr>
          <a:xfrm>
            <a:off x="558786" y="3036292"/>
            <a:ext cx="7010225" cy="31651"/>
          </a:xfrm>
          <a:prstGeom prst="roundRect">
            <a:avLst>
              <a:gd name="adj" fmla="val 49998"/>
            </a:avLst>
          </a:prstGeom>
          <a:solidFill>
            <a:srgbClr val="22262B"/>
          </a:solidFill>
          <a:ln/>
        </p:spPr>
      </p:sp>
      <p:sp>
        <p:nvSpPr>
          <p:cNvPr id="6" name="Text 4"/>
          <p:cNvSpPr/>
          <p:nvPr/>
        </p:nvSpPr>
        <p:spPr>
          <a:xfrm>
            <a:off x="558786" y="3381796"/>
            <a:ext cx="7569011" cy="402332"/>
          </a:xfrm>
          <a:prstGeom prst="rect">
            <a:avLst/>
          </a:prstGeom>
          <a:noFill/>
          <a:ln/>
        </p:spPr>
        <p:txBody>
          <a:bodyPr wrap="none" lIns="0" tIns="0" rIns="0" bIns="0" rtlCol="0" anchor="t"/>
          <a:lstStyle/>
          <a:p>
            <a:pPr algn="l" indent="0" marL="0">
              <a:lnSpc>
                <a:spcPct val="110000"/>
              </a:lnSpc>
              <a:buNone/>
            </a:pPr>
            <a:r>
              <a:rPr lang="en-US" sz="2400" dirty="0">
                <a:solidFill>
                  <a:srgbClr val="FFFFFF"/>
                </a:solidFill>
                <a:latin typeface="Barlow" pitchFamily="34" charset="0"/>
                <a:ea typeface="Barlow" pitchFamily="34" charset="-122"/>
                <a:cs typeface="Barlow" pitchFamily="34" charset="-120"/>
              </a:rPr>
              <a:t>End-to-end vehicle insurance workflow</a:t>
            </a:r>
            <a:endParaRPr lang="en-US" sz="2400" dirty="0"/>
          </a:p>
        </p:txBody>
      </p:sp>
      <p:sp>
        <p:nvSpPr>
          <p:cNvPr id="7" name="Text 5"/>
          <p:cNvSpPr/>
          <p:nvPr/>
        </p:nvSpPr>
        <p:spPr>
          <a:xfrm>
            <a:off x="558786" y="4502249"/>
            <a:ext cx="7010225" cy="1797050"/>
          </a:xfrm>
          <a:prstGeom prst="rect">
            <a:avLst/>
          </a:prstGeom>
          <a:noFill/>
          <a:ln/>
        </p:spPr>
        <p:txBody>
          <a:bodyPr wrap="square" lIns="0" tIns="0" rIns="0" bIns="0" rtlCol="0" anchor="t"/>
          <a:lstStyle/>
          <a:p>
            <a:pPr algn="l" indent="0" marL="0">
              <a:lnSpc>
                <a:spcPct val="104000"/>
              </a:lnSpc>
              <a:buNone/>
            </a:pPr>
            <a:endParaRPr lang="en-US" sz="1400" dirty="0"/>
          </a:p>
          <a:p>
            <a:pPr algn="l" indent="0" marL="0">
              <a:lnSpc>
                <a:spcPct val="104000"/>
              </a:lnSpc>
              <a:spcAft>
                <a:spcPts val="1750"/>
              </a:spcAft>
              <a:buNone/>
            </a:pPr>
            <a:endParaRPr lang="en-US" sz="1400" dirty="0"/>
          </a:p>
          <a:p>
            <a:pPr algn="l" indent="0" marL="0">
              <a:lnSpc>
                <a:spcPct val="104000"/>
              </a:lnSpc>
              <a:spcAft>
                <a:spcPts val="1750"/>
              </a:spcAft>
              <a:buNone/>
            </a:pPr>
            <a:r>
              <a:rPr lang="en-US" sz="1400" spc="28" kern="100" dirty="0">
                <a:solidFill>
                  <a:srgbClr val="FFFFFF"/>
                </a:solidFill>
                <a:latin typeface="Roboto Mono Medium" pitchFamily="34" charset="0"/>
                <a:ea typeface="Roboto Mono Medium" pitchFamily="34" charset="-122"/>
                <a:cs typeface="Roboto Mono Medium" pitchFamily="34" charset="-120"/>
              </a:rPr>
              <a:t>Praneeth Reddy</a:t>
            </a:r>
            <a:endParaRPr lang="en-US" sz="1400" dirty="0"/>
          </a:p>
          <a:p>
            <a:pPr algn="l" indent="0" marL="0">
              <a:lnSpc>
                <a:spcPct val="104000"/>
              </a:lnSpc>
              <a:spcAft>
                <a:spcPts val="1750"/>
              </a:spcAft>
              <a:buNone/>
            </a:pPr>
            <a:endParaRPr lang="en-US" sz="1400" dirty="0"/>
          </a:p>
        </p:txBody>
      </p:sp>
      <p:pic>
        <p:nvPicPr>
          <p:cNvPr id="8" name="Image 0" descr="preencoded.png">    </p:cNvPr>
          <p:cNvPicPr>
            <a:picLocks noChangeAspect="1"/>
          </p:cNvPicPr>
          <p:nvPr/>
        </p:nvPicPr>
        <p:blipFill>
          <a:blip r:embed="rId1"/>
          <a:stretch>
            <a:fillRect/>
          </a:stretch>
        </p:blipFill>
        <p:spPr>
          <a:xfrm>
            <a:off x="8127797" y="0"/>
            <a:ext cx="406389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987" y="515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WORKFLOW PROBLEM</a:t>
            </a:r>
            <a:endParaRPr lang="en-US" sz="1400" dirty="0"/>
          </a:p>
        </p:txBody>
      </p:sp>
      <p:sp>
        <p:nvSpPr>
          <p:cNvPr id="3" name="Text 1"/>
          <p:cNvSpPr/>
          <p:nvPr/>
        </p:nvSpPr>
        <p:spPr>
          <a:xfrm>
            <a:off x="507987" y="847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Disconnected hand-offs break insurance workflows</a:t>
            </a:r>
            <a:endParaRPr lang="en-US" sz="3400" dirty="0"/>
          </a:p>
        </p:txBody>
      </p:sp>
      <p:sp>
        <p:nvSpPr>
          <p:cNvPr id="4" name="Shape 2"/>
          <p:cNvSpPr/>
          <p:nvPr/>
        </p:nvSpPr>
        <p:spPr>
          <a:xfrm>
            <a:off x="507987" y="1605161"/>
            <a:ext cx="11175621" cy="31651"/>
          </a:xfrm>
          <a:prstGeom prst="roundRect">
            <a:avLst>
              <a:gd name="adj" fmla="val 49998"/>
            </a:avLst>
          </a:prstGeom>
          <a:solidFill>
            <a:srgbClr val="22262B"/>
          </a:solidFill>
          <a:ln/>
        </p:spPr>
      </p:sp>
      <p:sp>
        <p:nvSpPr>
          <p:cNvPr id="5" name="Shape 3"/>
          <p:cNvSpPr/>
          <p:nvPr/>
        </p:nvSpPr>
        <p:spPr>
          <a:xfrm>
            <a:off x="507987" y="2911277"/>
            <a:ext cx="1735590" cy="993577"/>
          </a:xfrm>
          <a:prstGeom prst="rect">
            <a:avLst/>
          </a:prstGeom>
          <a:solidFill>
            <a:srgbClr val="E8EDF0"/>
          </a:solidFill>
          <a:ln/>
        </p:spPr>
      </p:sp>
      <p:sp>
        <p:nvSpPr>
          <p:cNvPr id="6" name="Text 4"/>
          <p:cNvSpPr/>
          <p:nvPr/>
        </p:nvSpPr>
        <p:spPr>
          <a:xfrm>
            <a:off x="736582" y="3153783"/>
            <a:ext cx="1278402"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Customer data</a:t>
            </a:r>
            <a:endParaRPr lang="en-US" sz="1600" dirty="0"/>
          </a:p>
        </p:txBody>
      </p:sp>
      <p:sp>
        <p:nvSpPr>
          <p:cNvPr id="7" name="Shape 5"/>
          <p:cNvSpPr/>
          <p:nvPr/>
        </p:nvSpPr>
        <p:spPr>
          <a:xfrm>
            <a:off x="2395974" y="2911277"/>
            <a:ext cx="1735590" cy="993577"/>
          </a:xfrm>
          <a:prstGeom prst="rect">
            <a:avLst/>
          </a:prstGeom>
          <a:solidFill>
            <a:srgbClr val="E8EDF0"/>
          </a:solidFill>
          <a:ln/>
        </p:spPr>
      </p:sp>
      <p:sp>
        <p:nvSpPr>
          <p:cNvPr id="8" name="Text 6"/>
          <p:cNvSpPr/>
          <p:nvPr/>
        </p:nvSpPr>
        <p:spPr>
          <a:xfrm>
            <a:off x="2624568" y="3153783"/>
            <a:ext cx="150699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Pricing</a:t>
            </a:r>
            <a:endParaRPr lang="en-US" sz="1600" dirty="0"/>
          </a:p>
        </p:txBody>
      </p:sp>
      <p:sp>
        <p:nvSpPr>
          <p:cNvPr id="9" name="Shape 7"/>
          <p:cNvSpPr/>
          <p:nvPr/>
        </p:nvSpPr>
        <p:spPr>
          <a:xfrm>
            <a:off x="4283960" y="2911277"/>
            <a:ext cx="1735689" cy="993577"/>
          </a:xfrm>
          <a:prstGeom prst="rect">
            <a:avLst/>
          </a:prstGeom>
          <a:solidFill>
            <a:srgbClr val="E8EDF0"/>
          </a:solidFill>
          <a:ln/>
        </p:spPr>
      </p:sp>
      <p:sp>
        <p:nvSpPr>
          <p:cNvPr id="10" name="Text 8"/>
          <p:cNvSpPr/>
          <p:nvPr/>
        </p:nvSpPr>
        <p:spPr>
          <a:xfrm>
            <a:off x="4512554" y="3153783"/>
            <a:ext cx="1507095"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Risk</a:t>
            </a:r>
            <a:endParaRPr lang="en-US" sz="1600" dirty="0"/>
          </a:p>
        </p:txBody>
      </p:sp>
      <p:sp>
        <p:nvSpPr>
          <p:cNvPr id="11" name="Shape 9"/>
          <p:cNvSpPr/>
          <p:nvPr/>
        </p:nvSpPr>
        <p:spPr>
          <a:xfrm>
            <a:off x="6172046" y="2911277"/>
            <a:ext cx="1735590" cy="993577"/>
          </a:xfrm>
          <a:prstGeom prst="rect">
            <a:avLst/>
          </a:prstGeom>
          <a:solidFill>
            <a:srgbClr val="E8EDF0"/>
          </a:solidFill>
          <a:ln/>
        </p:spPr>
      </p:sp>
      <p:sp>
        <p:nvSpPr>
          <p:cNvPr id="12" name="Text 10"/>
          <p:cNvSpPr/>
          <p:nvPr/>
        </p:nvSpPr>
        <p:spPr>
          <a:xfrm>
            <a:off x="6400640" y="3153783"/>
            <a:ext cx="150699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Policy</a:t>
            </a:r>
            <a:endParaRPr lang="en-US" sz="1600" dirty="0"/>
          </a:p>
        </p:txBody>
      </p:sp>
      <p:sp>
        <p:nvSpPr>
          <p:cNvPr id="13" name="Shape 11"/>
          <p:cNvSpPr/>
          <p:nvPr/>
        </p:nvSpPr>
        <p:spPr>
          <a:xfrm>
            <a:off x="8060032" y="2911277"/>
            <a:ext cx="1735590" cy="993577"/>
          </a:xfrm>
          <a:prstGeom prst="rect">
            <a:avLst/>
          </a:prstGeom>
          <a:solidFill>
            <a:srgbClr val="E8EDF0"/>
          </a:solidFill>
          <a:ln/>
        </p:spPr>
      </p:sp>
      <p:sp>
        <p:nvSpPr>
          <p:cNvPr id="14" name="Text 12"/>
          <p:cNvSpPr/>
          <p:nvPr/>
        </p:nvSpPr>
        <p:spPr>
          <a:xfrm>
            <a:off x="8288626" y="3153783"/>
            <a:ext cx="150699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Billing</a:t>
            </a:r>
            <a:endParaRPr lang="en-US" sz="1600" dirty="0"/>
          </a:p>
        </p:txBody>
      </p:sp>
      <p:sp>
        <p:nvSpPr>
          <p:cNvPr id="15" name="Shape 13"/>
          <p:cNvSpPr/>
          <p:nvPr/>
        </p:nvSpPr>
        <p:spPr>
          <a:xfrm>
            <a:off x="9948018" y="2911277"/>
            <a:ext cx="1735689" cy="993577"/>
          </a:xfrm>
          <a:prstGeom prst="rect">
            <a:avLst/>
          </a:prstGeom>
          <a:solidFill>
            <a:srgbClr val="E8EDF0"/>
          </a:solidFill>
          <a:ln/>
        </p:spPr>
      </p:sp>
      <p:sp>
        <p:nvSpPr>
          <p:cNvPr id="16" name="Text 14"/>
          <p:cNvSpPr/>
          <p:nvPr/>
        </p:nvSpPr>
        <p:spPr>
          <a:xfrm>
            <a:off x="10176613" y="3153783"/>
            <a:ext cx="1507095"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Claims</a:t>
            </a:r>
            <a:endParaRPr lang="en-US" sz="1600" dirty="0"/>
          </a:p>
        </p:txBody>
      </p:sp>
      <p:sp>
        <p:nvSpPr>
          <p:cNvPr id="17" name="Text 15"/>
          <p:cNvSpPr/>
          <p:nvPr/>
        </p:nvSpPr>
        <p:spPr>
          <a:xfrm>
            <a:off x="507987" y="4149328"/>
            <a:ext cx="11683708"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Many hands across one insurance workflow</a:t>
            </a:r>
            <a:endParaRPr lang="en-US" sz="1400" dirty="0"/>
          </a:p>
        </p:txBody>
      </p:sp>
      <p:sp>
        <p:nvSpPr>
          <p:cNvPr id="18" name="Text 16"/>
          <p:cNvSpPr/>
          <p:nvPr/>
        </p:nvSpPr>
        <p:spPr>
          <a:xfrm>
            <a:off x="507987" y="5570324"/>
            <a:ext cx="3496580"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Fragmented records</a:t>
            </a:r>
            <a:endParaRPr lang="en-US" sz="2200" dirty="0"/>
          </a:p>
        </p:txBody>
      </p:sp>
      <p:sp>
        <p:nvSpPr>
          <p:cNvPr id="19" name="Text 17"/>
          <p:cNvSpPr/>
          <p:nvPr/>
        </p:nvSpPr>
        <p:spPr>
          <a:xfrm>
            <a:off x="507987" y="6095817"/>
            <a:ext cx="3725174"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Manual processes</a:t>
            </a:r>
            <a:endParaRPr lang="en-US" sz="1600" dirty="0"/>
          </a:p>
        </p:txBody>
      </p:sp>
      <p:sp>
        <p:nvSpPr>
          <p:cNvPr id="20" name="Text 18"/>
          <p:cNvSpPr/>
          <p:nvPr/>
        </p:nvSpPr>
        <p:spPr>
          <a:xfrm>
            <a:off x="4461756" y="5570324"/>
            <a:ext cx="326808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Unclear ownership</a:t>
            </a:r>
            <a:endParaRPr lang="en-US" sz="2200" dirty="0"/>
          </a:p>
        </p:txBody>
      </p:sp>
      <p:sp>
        <p:nvSpPr>
          <p:cNvPr id="21" name="Text 19"/>
          <p:cNvSpPr/>
          <p:nvPr/>
        </p:nvSpPr>
        <p:spPr>
          <a:xfrm>
            <a:off x="4461756" y="6095817"/>
            <a:ext cx="3496679"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Limited status visibility</a:t>
            </a:r>
            <a:endParaRPr lang="en-US" sz="1600" dirty="0"/>
          </a:p>
        </p:txBody>
      </p:sp>
      <p:sp>
        <p:nvSpPr>
          <p:cNvPr id="22" name="Text 20"/>
          <p:cNvSpPr/>
          <p:nvPr/>
        </p:nvSpPr>
        <p:spPr>
          <a:xfrm>
            <a:off x="8187029" y="5570324"/>
            <a:ext cx="349667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Difficult traceability</a:t>
            </a:r>
            <a:endParaRPr lang="en-US" sz="2200" dirty="0"/>
          </a:p>
        </p:txBody>
      </p:sp>
      <p:sp>
        <p:nvSpPr>
          <p:cNvPr id="23" name="Shape 21"/>
          <p:cNvSpPr/>
          <p:nvPr/>
        </p:nvSpPr>
        <p:spPr>
          <a:xfrm>
            <a:off x="4226811" y="5568156"/>
            <a:ext cx="12700" cy="781943"/>
          </a:xfrm>
          <a:prstGeom prst="rect">
            <a:avLst/>
          </a:prstGeom>
          <a:solidFill>
            <a:srgbClr val="3F5A6C"/>
          </a:solidFill>
          <a:ln/>
        </p:spPr>
      </p:sp>
      <p:sp>
        <p:nvSpPr>
          <p:cNvPr id="24" name="Shape 22"/>
          <p:cNvSpPr/>
          <p:nvPr/>
        </p:nvSpPr>
        <p:spPr>
          <a:xfrm>
            <a:off x="7952085" y="5568156"/>
            <a:ext cx="12700" cy="781943"/>
          </a:xfrm>
          <a:prstGeom prst="rect">
            <a:avLst/>
          </a:prstGeom>
          <a:solidFill>
            <a:srgbClr val="3F5A6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5176" y="972630"/>
            <a:ext cx="10718532"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OWNERSHIP MODEL</a:t>
            </a:r>
            <a:endParaRPr lang="en-US" sz="1400" dirty="0"/>
          </a:p>
        </p:txBody>
      </p:sp>
      <p:sp>
        <p:nvSpPr>
          <p:cNvPr id="3" name="Text 1"/>
          <p:cNvSpPr/>
          <p:nvPr/>
        </p:nvSpPr>
        <p:spPr>
          <a:xfrm>
            <a:off x="965176" y="1304758"/>
            <a:ext cx="10261343"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One platform, six service-owned domains</a:t>
            </a:r>
            <a:endParaRPr lang="en-US" sz="3400" dirty="0"/>
          </a:p>
        </p:txBody>
      </p:sp>
      <p:sp>
        <p:nvSpPr>
          <p:cNvPr id="4" name="Shape 2"/>
          <p:cNvSpPr/>
          <p:nvPr/>
        </p:nvSpPr>
        <p:spPr>
          <a:xfrm>
            <a:off x="965176" y="2062361"/>
            <a:ext cx="10261244" cy="31651"/>
          </a:xfrm>
          <a:prstGeom prst="roundRect">
            <a:avLst>
              <a:gd name="adj" fmla="val 49998"/>
            </a:avLst>
          </a:prstGeom>
          <a:solidFill>
            <a:srgbClr val="22262B"/>
          </a:solidFill>
          <a:ln/>
        </p:spPr>
      </p:sp>
      <p:sp>
        <p:nvSpPr>
          <p:cNvPr id="5" name="Text 3"/>
          <p:cNvSpPr/>
          <p:nvPr/>
        </p:nvSpPr>
        <p:spPr>
          <a:xfrm>
            <a:off x="965176" y="2405578"/>
            <a:ext cx="10718532" cy="335260"/>
          </a:xfrm>
          <a:prstGeom prst="rect">
            <a:avLst/>
          </a:prstGeom>
          <a:noFill/>
          <a:ln/>
        </p:spPr>
        <p:txBody>
          <a:bodyPr wrap="none" lIns="0" tIns="0" rIns="0" bIns="0" rtlCol="0" anchor="t"/>
          <a:lstStyle/>
          <a:p>
            <a:pPr algn="l" indent="0" marL="0">
              <a:lnSpc>
                <a:spcPct val="110000"/>
              </a:lnSpc>
              <a:buNone/>
            </a:pPr>
            <a:r>
              <a:rPr lang="en-US" sz="2000" dirty="0">
                <a:solidFill>
                  <a:srgbClr val="22262B"/>
                </a:solidFill>
                <a:latin typeface="Barlow" pitchFamily="34" charset="0"/>
                <a:ea typeface="Barlow" pitchFamily="34" charset="-122"/>
                <a:cs typeface="Barlow" pitchFamily="34" charset="-120"/>
              </a:rPr>
              <a:t>One customer journey, clear service ownership, controlled hand-offs.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7987" y="515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FUNCTIONAL SCOPE</a:t>
            </a:r>
            <a:endParaRPr lang="en-US" sz="1400" dirty="0"/>
          </a:p>
        </p:txBody>
      </p:sp>
      <p:sp>
        <p:nvSpPr>
          <p:cNvPr id="3" name="Text 1"/>
          <p:cNvSpPr/>
          <p:nvPr/>
        </p:nvSpPr>
        <p:spPr>
          <a:xfrm>
            <a:off x="507987" y="847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Functional scope at a glance</a:t>
            </a:r>
            <a:endParaRPr lang="en-US" sz="3400" dirty="0"/>
          </a:p>
        </p:txBody>
      </p:sp>
      <p:sp>
        <p:nvSpPr>
          <p:cNvPr id="4" name="Shape 2"/>
          <p:cNvSpPr/>
          <p:nvPr/>
        </p:nvSpPr>
        <p:spPr>
          <a:xfrm>
            <a:off x="507987" y="1605161"/>
            <a:ext cx="11175621" cy="31651"/>
          </a:xfrm>
          <a:prstGeom prst="roundRect">
            <a:avLst>
              <a:gd name="adj" fmla="val 49998"/>
            </a:avLst>
          </a:prstGeom>
          <a:solidFill>
            <a:srgbClr val="22262B"/>
          </a:solidFill>
          <a:ln/>
        </p:spPr>
      </p:sp>
      <p:sp>
        <p:nvSpPr>
          <p:cNvPr id="5" name="Shape 3"/>
          <p:cNvSpPr/>
          <p:nvPr/>
        </p:nvSpPr>
        <p:spPr>
          <a:xfrm>
            <a:off x="507987" y="1927423"/>
            <a:ext cx="2717732" cy="2135088"/>
          </a:xfrm>
          <a:prstGeom prst="rect">
            <a:avLst/>
          </a:prstGeom>
          <a:solidFill>
            <a:srgbClr val="E8EDF0"/>
          </a:solidFill>
          <a:ln/>
        </p:spPr>
      </p:sp>
      <p:sp>
        <p:nvSpPr>
          <p:cNvPr id="6" name="Text 4"/>
          <p:cNvSpPr/>
          <p:nvPr/>
        </p:nvSpPr>
        <p:spPr>
          <a:xfrm>
            <a:off x="736582" y="2832284"/>
            <a:ext cx="2260543"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Identity &amp; Access</a:t>
            </a:r>
            <a:endParaRPr lang="en-US" sz="2200" dirty="0"/>
          </a:p>
        </p:txBody>
      </p:sp>
      <p:sp>
        <p:nvSpPr>
          <p:cNvPr id="7" name="Shape 5"/>
          <p:cNvSpPr/>
          <p:nvPr/>
        </p:nvSpPr>
        <p:spPr>
          <a:xfrm>
            <a:off x="3378115" y="1927423"/>
            <a:ext cx="2641534" cy="2135088"/>
          </a:xfrm>
          <a:prstGeom prst="rect">
            <a:avLst/>
          </a:prstGeom>
          <a:solidFill>
            <a:srgbClr val="E8EDF0"/>
          </a:solidFill>
          <a:ln/>
        </p:spPr>
      </p:sp>
      <p:sp>
        <p:nvSpPr>
          <p:cNvPr id="8" name="Text 6"/>
          <p:cNvSpPr/>
          <p:nvPr/>
        </p:nvSpPr>
        <p:spPr>
          <a:xfrm>
            <a:off x="3606710" y="2667481"/>
            <a:ext cx="2184345" cy="659209"/>
          </a:xfrm>
          <a:prstGeom prst="rect">
            <a:avLst/>
          </a:prstGeom>
          <a:noFill/>
          <a:ln/>
        </p:spPr>
        <p:txBody>
          <a:bodyPr wrap="square" lIns="0" tIns="0" rIns="0" bIns="0" rtlCol="0" anchor="t">
            <a:normAutofit/>
          </a:bodyPr>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Customer / Driver / Vehicle</a:t>
            </a:r>
            <a:endParaRPr lang="en-US" sz="2200" dirty="0"/>
          </a:p>
        </p:txBody>
      </p:sp>
      <p:sp>
        <p:nvSpPr>
          <p:cNvPr id="9" name="Shape 7"/>
          <p:cNvSpPr/>
          <p:nvPr/>
        </p:nvSpPr>
        <p:spPr>
          <a:xfrm>
            <a:off x="6172046" y="1927423"/>
            <a:ext cx="2641534" cy="2135088"/>
          </a:xfrm>
          <a:prstGeom prst="rect">
            <a:avLst/>
          </a:prstGeom>
          <a:solidFill>
            <a:srgbClr val="E8EDF0"/>
          </a:solidFill>
          <a:ln/>
        </p:spPr>
      </p:sp>
      <p:sp>
        <p:nvSpPr>
          <p:cNvPr id="10" name="Text 8"/>
          <p:cNvSpPr/>
          <p:nvPr/>
        </p:nvSpPr>
        <p:spPr>
          <a:xfrm>
            <a:off x="6400640" y="2667481"/>
            <a:ext cx="2184345" cy="659209"/>
          </a:xfrm>
          <a:prstGeom prst="rect">
            <a:avLst/>
          </a:prstGeom>
          <a:noFill/>
          <a:ln/>
        </p:spPr>
        <p:txBody>
          <a:bodyPr wrap="square" lIns="0" tIns="0" rIns="0" bIns="0" rtlCol="0" anchor="t">
            <a:normAutofit/>
          </a:bodyPr>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Agent Assignment</a:t>
            </a:r>
            <a:endParaRPr lang="en-US" sz="2200" dirty="0"/>
          </a:p>
        </p:txBody>
      </p:sp>
      <p:sp>
        <p:nvSpPr>
          <p:cNvPr id="11" name="Shape 9"/>
          <p:cNvSpPr/>
          <p:nvPr/>
        </p:nvSpPr>
        <p:spPr>
          <a:xfrm>
            <a:off x="8965976" y="1927423"/>
            <a:ext cx="2717732" cy="2135088"/>
          </a:xfrm>
          <a:prstGeom prst="rect">
            <a:avLst/>
          </a:prstGeom>
          <a:solidFill>
            <a:srgbClr val="E8EDF0"/>
          </a:solidFill>
          <a:ln/>
        </p:spPr>
      </p:sp>
      <p:sp>
        <p:nvSpPr>
          <p:cNvPr id="12" name="Text 10"/>
          <p:cNvSpPr/>
          <p:nvPr/>
        </p:nvSpPr>
        <p:spPr>
          <a:xfrm>
            <a:off x="9194570" y="2832284"/>
            <a:ext cx="2260543"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Quotes &amp; Pricing</a:t>
            </a:r>
            <a:endParaRPr lang="en-US" sz="2200" dirty="0"/>
          </a:p>
        </p:txBody>
      </p:sp>
      <p:sp>
        <p:nvSpPr>
          <p:cNvPr id="13" name="Shape 11"/>
          <p:cNvSpPr/>
          <p:nvPr/>
        </p:nvSpPr>
        <p:spPr>
          <a:xfrm>
            <a:off x="507987" y="4214912"/>
            <a:ext cx="2717732" cy="2135088"/>
          </a:xfrm>
          <a:prstGeom prst="rect">
            <a:avLst/>
          </a:prstGeom>
          <a:solidFill>
            <a:srgbClr val="E8EDF0"/>
          </a:solidFill>
          <a:ln/>
        </p:spPr>
      </p:sp>
      <p:sp>
        <p:nvSpPr>
          <p:cNvPr id="14" name="Text 12"/>
          <p:cNvSpPr/>
          <p:nvPr/>
        </p:nvSpPr>
        <p:spPr>
          <a:xfrm>
            <a:off x="736582" y="5119772"/>
            <a:ext cx="2260543"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Underwriting</a:t>
            </a:r>
            <a:endParaRPr lang="en-US" sz="2200" dirty="0"/>
          </a:p>
        </p:txBody>
      </p:sp>
      <p:sp>
        <p:nvSpPr>
          <p:cNvPr id="15" name="Shape 13"/>
          <p:cNvSpPr/>
          <p:nvPr/>
        </p:nvSpPr>
        <p:spPr>
          <a:xfrm>
            <a:off x="3378115" y="4214912"/>
            <a:ext cx="2641534" cy="2135088"/>
          </a:xfrm>
          <a:prstGeom prst="rect">
            <a:avLst/>
          </a:prstGeom>
          <a:solidFill>
            <a:srgbClr val="E8EDF0"/>
          </a:solidFill>
          <a:ln/>
        </p:spPr>
      </p:sp>
      <p:sp>
        <p:nvSpPr>
          <p:cNvPr id="16" name="Text 14"/>
          <p:cNvSpPr/>
          <p:nvPr/>
        </p:nvSpPr>
        <p:spPr>
          <a:xfrm>
            <a:off x="3606710" y="4954970"/>
            <a:ext cx="2184345" cy="659209"/>
          </a:xfrm>
          <a:prstGeom prst="rect">
            <a:avLst/>
          </a:prstGeom>
          <a:noFill/>
          <a:ln/>
        </p:spPr>
        <p:txBody>
          <a:bodyPr wrap="square" lIns="0" tIns="0" rIns="0" bIns="0" rtlCol="0" anchor="t">
            <a:normAutofit/>
          </a:bodyPr>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Purchase / Policy / Billing</a:t>
            </a:r>
            <a:endParaRPr lang="en-US" sz="2200" dirty="0"/>
          </a:p>
        </p:txBody>
      </p:sp>
      <p:sp>
        <p:nvSpPr>
          <p:cNvPr id="17" name="Shape 15"/>
          <p:cNvSpPr/>
          <p:nvPr/>
        </p:nvSpPr>
        <p:spPr>
          <a:xfrm>
            <a:off x="6172046" y="4214912"/>
            <a:ext cx="2641534" cy="2135088"/>
          </a:xfrm>
          <a:prstGeom prst="rect">
            <a:avLst/>
          </a:prstGeom>
          <a:solidFill>
            <a:srgbClr val="E8EDF0"/>
          </a:solidFill>
          <a:ln/>
        </p:spPr>
      </p:sp>
      <p:sp>
        <p:nvSpPr>
          <p:cNvPr id="18" name="Text 16"/>
          <p:cNvSpPr/>
          <p:nvPr/>
        </p:nvSpPr>
        <p:spPr>
          <a:xfrm>
            <a:off x="6400640" y="5119772"/>
            <a:ext cx="218434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Claims</a:t>
            </a:r>
            <a:endParaRPr lang="en-US" sz="2200" dirty="0"/>
          </a:p>
        </p:txBody>
      </p:sp>
      <p:sp>
        <p:nvSpPr>
          <p:cNvPr id="19" name="Shape 17"/>
          <p:cNvSpPr/>
          <p:nvPr/>
        </p:nvSpPr>
        <p:spPr>
          <a:xfrm>
            <a:off x="8965976" y="4214912"/>
            <a:ext cx="2717732" cy="2135088"/>
          </a:xfrm>
          <a:prstGeom prst="rect">
            <a:avLst/>
          </a:prstGeom>
          <a:solidFill>
            <a:srgbClr val="E8EDF0"/>
          </a:solidFill>
          <a:ln/>
        </p:spPr>
      </p:sp>
      <p:sp>
        <p:nvSpPr>
          <p:cNvPr id="20" name="Text 18"/>
          <p:cNvSpPr/>
          <p:nvPr/>
        </p:nvSpPr>
        <p:spPr>
          <a:xfrm>
            <a:off x="9194570" y="5119772"/>
            <a:ext cx="2260543"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Admin Operations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7987" y="515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ROLE OWNERSHIP</a:t>
            </a:r>
            <a:endParaRPr lang="en-US" sz="1400" dirty="0"/>
          </a:p>
        </p:txBody>
      </p:sp>
      <p:sp>
        <p:nvSpPr>
          <p:cNvPr id="3" name="Text 1"/>
          <p:cNvSpPr/>
          <p:nvPr/>
        </p:nvSpPr>
        <p:spPr>
          <a:xfrm>
            <a:off x="507987" y="847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Five roles, clear responsibilities</a:t>
            </a:r>
            <a:endParaRPr lang="en-US" sz="3400" dirty="0"/>
          </a:p>
        </p:txBody>
      </p:sp>
      <p:sp>
        <p:nvSpPr>
          <p:cNvPr id="4" name="Shape 2"/>
          <p:cNvSpPr/>
          <p:nvPr/>
        </p:nvSpPr>
        <p:spPr>
          <a:xfrm>
            <a:off x="507987" y="1605161"/>
            <a:ext cx="11175621" cy="31651"/>
          </a:xfrm>
          <a:prstGeom prst="roundRect">
            <a:avLst>
              <a:gd name="adj" fmla="val 49998"/>
            </a:avLst>
          </a:prstGeom>
          <a:solidFill>
            <a:srgbClr val="22262B"/>
          </a:solidFill>
          <a:ln/>
        </p:spPr>
      </p:sp>
      <p:sp>
        <p:nvSpPr>
          <p:cNvPr id="5" name="Shape 3"/>
          <p:cNvSpPr/>
          <p:nvPr/>
        </p:nvSpPr>
        <p:spPr>
          <a:xfrm>
            <a:off x="507987" y="1927423"/>
            <a:ext cx="3623577" cy="1909663"/>
          </a:xfrm>
          <a:prstGeom prst="roundRect">
            <a:avLst>
              <a:gd name="adj" fmla="val 599"/>
            </a:avLst>
          </a:prstGeom>
          <a:noFill/>
          <a:ln w="25399">
            <a:solidFill>
              <a:srgbClr val="D4D2CA"/>
            </a:solidFill>
            <a:prstDash val="solid"/>
          </a:ln>
        </p:spPr>
      </p:sp>
      <p:sp>
        <p:nvSpPr>
          <p:cNvPr id="6" name="Text 4"/>
          <p:cNvSpPr/>
          <p:nvPr/>
        </p:nvSpPr>
        <p:spPr>
          <a:xfrm>
            <a:off x="761981" y="2183592"/>
            <a:ext cx="311558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Customer</a:t>
            </a:r>
            <a:endParaRPr lang="en-US" sz="2200" dirty="0"/>
          </a:p>
        </p:txBody>
      </p:sp>
      <p:sp>
        <p:nvSpPr>
          <p:cNvPr id="7" name="Text 5"/>
          <p:cNvSpPr/>
          <p:nvPr/>
        </p:nvSpPr>
        <p:spPr>
          <a:xfrm>
            <a:off x="761981" y="2709085"/>
            <a:ext cx="3115589"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Provides data, accepts offers, views claims</a:t>
            </a:r>
            <a:endParaRPr lang="en-US" sz="1600" dirty="0"/>
          </a:p>
        </p:txBody>
      </p:sp>
      <p:sp>
        <p:nvSpPr>
          <p:cNvPr id="8" name="Shape 6"/>
          <p:cNvSpPr/>
          <p:nvPr/>
        </p:nvSpPr>
        <p:spPr>
          <a:xfrm>
            <a:off x="4283960" y="1927423"/>
            <a:ext cx="3623676" cy="1909663"/>
          </a:xfrm>
          <a:prstGeom prst="roundRect">
            <a:avLst>
              <a:gd name="adj" fmla="val 599"/>
            </a:avLst>
          </a:prstGeom>
          <a:noFill/>
          <a:ln w="25399">
            <a:solidFill>
              <a:srgbClr val="D4D2CA"/>
            </a:solidFill>
            <a:prstDash val="solid"/>
          </a:ln>
        </p:spPr>
      </p:sp>
      <p:sp>
        <p:nvSpPr>
          <p:cNvPr id="9" name="Text 7"/>
          <p:cNvSpPr/>
          <p:nvPr/>
        </p:nvSpPr>
        <p:spPr>
          <a:xfrm>
            <a:off x="4537954" y="2183592"/>
            <a:ext cx="31156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Agent</a:t>
            </a:r>
            <a:endParaRPr lang="en-US" sz="2200" dirty="0"/>
          </a:p>
        </p:txBody>
      </p:sp>
      <p:sp>
        <p:nvSpPr>
          <p:cNvPr id="10" name="Text 8"/>
          <p:cNvSpPr/>
          <p:nvPr/>
        </p:nvSpPr>
        <p:spPr>
          <a:xfrm>
            <a:off x="4537954" y="2709085"/>
            <a:ext cx="3115688"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Assists with quotes and claim submission</a:t>
            </a:r>
            <a:endParaRPr lang="en-US" sz="1600" dirty="0"/>
          </a:p>
        </p:txBody>
      </p:sp>
      <p:sp>
        <p:nvSpPr>
          <p:cNvPr id="11" name="Shape 9"/>
          <p:cNvSpPr/>
          <p:nvPr/>
        </p:nvSpPr>
        <p:spPr>
          <a:xfrm>
            <a:off x="8060032" y="1927423"/>
            <a:ext cx="3623676" cy="1909663"/>
          </a:xfrm>
          <a:prstGeom prst="roundRect">
            <a:avLst>
              <a:gd name="adj" fmla="val 599"/>
            </a:avLst>
          </a:prstGeom>
          <a:noFill/>
          <a:ln w="25399">
            <a:solidFill>
              <a:srgbClr val="D4D2CA"/>
            </a:solidFill>
            <a:prstDash val="solid"/>
          </a:ln>
        </p:spPr>
      </p:sp>
      <p:sp>
        <p:nvSpPr>
          <p:cNvPr id="12" name="Text 10"/>
          <p:cNvSpPr/>
          <p:nvPr/>
        </p:nvSpPr>
        <p:spPr>
          <a:xfrm>
            <a:off x="8314026" y="2183592"/>
            <a:ext cx="31156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Admin</a:t>
            </a:r>
            <a:endParaRPr lang="en-US" sz="2200" dirty="0"/>
          </a:p>
        </p:txBody>
      </p:sp>
      <p:sp>
        <p:nvSpPr>
          <p:cNvPr id="13" name="Text 11"/>
          <p:cNvSpPr/>
          <p:nvPr/>
        </p:nvSpPr>
        <p:spPr>
          <a:xfrm>
            <a:off x="8314026" y="2709085"/>
            <a:ext cx="3369682"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Assigns work</a:t>
            </a:r>
            <a:endParaRPr lang="en-US" sz="1600" dirty="0"/>
          </a:p>
        </p:txBody>
      </p:sp>
      <p:sp>
        <p:nvSpPr>
          <p:cNvPr id="14" name="Shape 12"/>
          <p:cNvSpPr/>
          <p:nvPr/>
        </p:nvSpPr>
        <p:spPr>
          <a:xfrm>
            <a:off x="507987" y="3989487"/>
            <a:ext cx="5511662" cy="1909663"/>
          </a:xfrm>
          <a:prstGeom prst="roundRect">
            <a:avLst>
              <a:gd name="adj" fmla="val 599"/>
            </a:avLst>
          </a:prstGeom>
          <a:noFill/>
          <a:ln w="25399">
            <a:solidFill>
              <a:srgbClr val="D4D2CA"/>
            </a:solidFill>
            <a:prstDash val="solid"/>
          </a:ln>
        </p:spPr>
      </p:sp>
      <p:sp>
        <p:nvSpPr>
          <p:cNvPr id="15" name="Text 13"/>
          <p:cNvSpPr/>
          <p:nvPr/>
        </p:nvSpPr>
        <p:spPr>
          <a:xfrm>
            <a:off x="761981" y="4245655"/>
            <a:ext cx="500367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Underwriter</a:t>
            </a:r>
            <a:endParaRPr lang="en-US" sz="2200" dirty="0"/>
          </a:p>
        </p:txBody>
      </p:sp>
      <p:sp>
        <p:nvSpPr>
          <p:cNvPr id="16" name="Text 14"/>
          <p:cNvSpPr/>
          <p:nvPr/>
        </p:nvSpPr>
        <p:spPr>
          <a:xfrm>
            <a:off x="761981" y="4771148"/>
            <a:ext cx="525766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Assesses risk</a:t>
            </a:r>
            <a:endParaRPr lang="en-US" sz="1600" dirty="0"/>
          </a:p>
        </p:txBody>
      </p:sp>
      <p:sp>
        <p:nvSpPr>
          <p:cNvPr id="17" name="Shape 15"/>
          <p:cNvSpPr/>
          <p:nvPr/>
        </p:nvSpPr>
        <p:spPr>
          <a:xfrm>
            <a:off x="6172046" y="3989487"/>
            <a:ext cx="5511662" cy="1909663"/>
          </a:xfrm>
          <a:prstGeom prst="roundRect">
            <a:avLst>
              <a:gd name="adj" fmla="val 599"/>
            </a:avLst>
          </a:prstGeom>
          <a:noFill/>
          <a:ln w="25399">
            <a:solidFill>
              <a:srgbClr val="D4D2CA"/>
            </a:solidFill>
            <a:prstDash val="solid"/>
          </a:ln>
        </p:spPr>
      </p:sp>
      <p:sp>
        <p:nvSpPr>
          <p:cNvPr id="18" name="Text 16"/>
          <p:cNvSpPr/>
          <p:nvPr/>
        </p:nvSpPr>
        <p:spPr>
          <a:xfrm>
            <a:off x="6426039" y="4245655"/>
            <a:ext cx="500367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Claims Officer</a:t>
            </a:r>
            <a:endParaRPr lang="en-US" sz="2200" dirty="0"/>
          </a:p>
        </p:txBody>
      </p:sp>
      <p:sp>
        <p:nvSpPr>
          <p:cNvPr id="19" name="Text 17"/>
          <p:cNvSpPr/>
          <p:nvPr/>
        </p:nvSpPr>
        <p:spPr>
          <a:xfrm>
            <a:off x="6426039" y="4771148"/>
            <a:ext cx="525766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Reviews and decides claims</a:t>
            </a:r>
            <a:endParaRPr lang="en-US" sz="1600" dirty="0"/>
          </a:p>
        </p:txBody>
      </p:sp>
      <p:sp>
        <p:nvSpPr>
          <p:cNvPr id="20" name="Text 18"/>
          <p:cNvSpPr/>
          <p:nvPr/>
        </p:nvSpPr>
        <p:spPr>
          <a:xfrm>
            <a:off x="507987" y="6143625"/>
            <a:ext cx="11683708"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3F5A6C"/>
                </a:solidFill>
                <a:latin typeface="Roboto Mono Medium" pitchFamily="34" charset="0"/>
                <a:ea typeface="Roboto Mono Medium" pitchFamily="34" charset="-122"/>
                <a:cs typeface="Roboto Mono Medium" pitchFamily="34" charset="-120"/>
              </a:rPr>
              <a:t>In progress:</a:t>
            </a:r>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 Claims Adjuster vs ClaimsOfficer role-string alignment is being verified.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134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CUSTOMER JOURNEY</a:t>
            </a:r>
            <a:endParaRPr lang="en-US" sz="1400" dirty="0"/>
          </a:p>
        </p:txBody>
      </p:sp>
      <p:sp>
        <p:nvSpPr>
          <p:cNvPr id="3" name="Text 1"/>
          <p:cNvSpPr/>
          <p:nvPr/>
        </p:nvSpPr>
        <p:spPr>
          <a:xfrm>
            <a:off x="507987" y="466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From registration to policy servicing</a:t>
            </a:r>
            <a:endParaRPr lang="en-US" sz="3400" dirty="0"/>
          </a:p>
        </p:txBody>
      </p:sp>
      <p:sp>
        <p:nvSpPr>
          <p:cNvPr id="4" name="Shape 2"/>
          <p:cNvSpPr/>
          <p:nvPr/>
        </p:nvSpPr>
        <p:spPr>
          <a:xfrm>
            <a:off x="507987" y="1224161"/>
            <a:ext cx="11175621" cy="31651"/>
          </a:xfrm>
          <a:prstGeom prst="roundRect">
            <a:avLst>
              <a:gd name="adj" fmla="val 49998"/>
            </a:avLst>
          </a:prstGeom>
          <a:solidFill>
            <a:srgbClr val="22262B"/>
          </a:solidFill>
          <a:ln/>
        </p:spPr>
      </p:sp>
      <p:sp>
        <p:nvSpPr>
          <p:cNvPr id="5" name="Text 3"/>
          <p:cNvSpPr/>
          <p:nvPr/>
        </p:nvSpPr>
        <p:spPr>
          <a:xfrm>
            <a:off x="507987" y="1562299"/>
            <a:ext cx="11683708"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Read left to right, then continue on the second row. Outlined gates mark validation or approval.</a:t>
            </a:r>
            <a:endParaRPr lang="en-US" sz="1400" dirty="0"/>
          </a:p>
        </p:txBody>
      </p:sp>
      <p:sp>
        <p:nvSpPr>
          <p:cNvPr id="6" name="Shape 4"/>
          <p:cNvSpPr/>
          <p:nvPr/>
        </p:nvSpPr>
        <p:spPr>
          <a:xfrm>
            <a:off x="507987" y="2225873"/>
            <a:ext cx="406390" cy="406400"/>
          </a:xfrm>
          <a:prstGeom prst="ellipse">
            <a:avLst/>
          </a:prstGeom>
          <a:solidFill>
            <a:srgbClr val="C6501A"/>
          </a:solidFill>
          <a:ln w="25399">
            <a:solidFill>
              <a:srgbClr val="FAF9F6"/>
            </a:solidFill>
            <a:prstDash val="solid"/>
          </a:ln>
        </p:spPr>
      </p:sp>
      <p:sp>
        <p:nvSpPr>
          <p:cNvPr id="7" name="Text 5"/>
          <p:cNvSpPr/>
          <p:nvPr/>
        </p:nvSpPr>
        <p:spPr>
          <a:xfrm>
            <a:off x="596786" y="233382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01</a:t>
            </a:r>
            <a:endParaRPr lang="en-US" sz="1500" dirty="0"/>
          </a:p>
        </p:txBody>
      </p:sp>
      <p:sp>
        <p:nvSpPr>
          <p:cNvPr id="8" name="Shape 6"/>
          <p:cNvSpPr/>
          <p:nvPr/>
        </p:nvSpPr>
        <p:spPr>
          <a:xfrm>
            <a:off x="507987" y="2733873"/>
            <a:ext cx="2158946" cy="19050"/>
          </a:xfrm>
          <a:prstGeom prst="rect">
            <a:avLst/>
          </a:prstGeom>
          <a:solidFill>
            <a:srgbClr val="C6501A"/>
          </a:solidFill>
          <a:ln/>
        </p:spPr>
      </p:sp>
      <p:sp>
        <p:nvSpPr>
          <p:cNvPr id="9" name="Text 7"/>
          <p:cNvSpPr/>
          <p:nvPr/>
        </p:nvSpPr>
        <p:spPr>
          <a:xfrm>
            <a:off x="507987" y="2919230"/>
            <a:ext cx="215894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Register</a:t>
            </a:r>
            <a:endParaRPr lang="en-US" sz="1600" dirty="0"/>
          </a:p>
        </p:txBody>
      </p:sp>
      <p:sp>
        <p:nvSpPr>
          <p:cNvPr id="10" name="Shape 8"/>
          <p:cNvSpPr/>
          <p:nvPr/>
        </p:nvSpPr>
        <p:spPr>
          <a:xfrm>
            <a:off x="2819329" y="2225873"/>
            <a:ext cx="406390" cy="406400"/>
          </a:xfrm>
          <a:prstGeom prst="ellipse">
            <a:avLst/>
          </a:prstGeom>
          <a:solidFill>
            <a:srgbClr val="C6501A"/>
          </a:solidFill>
          <a:ln w="25399">
            <a:solidFill>
              <a:srgbClr val="FAF9F6"/>
            </a:solidFill>
            <a:prstDash val="solid"/>
          </a:ln>
        </p:spPr>
      </p:sp>
      <p:sp>
        <p:nvSpPr>
          <p:cNvPr id="11" name="Text 9"/>
          <p:cNvSpPr/>
          <p:nvPr/>
        </p:nvSpPr>
        <p:spPr>
          <a:xfrm>
            <a:off x="2908128" y="233382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02</a:t>
            </a:r>
            <a:endParaRPr lang="en-US" sz="1500" dirty="0"/>
          </a:p>
        </p:txBody>
      </p:sp>
      <p:sp>
        <p:nvSpPr>
          <p:cNvPr id="12" name="Shape 10"/>
          <p:cNvSpPr/>
          <p:nvPr/>
        </p:nvSpPr>
        <p:spPr>
          <a:xfrm>
            <a:off x="2819329" y="2733873"/>
            <a:ext cx="2082748" cy="19050"/>
          </a:xfrm>
          <a:prstGeom prst="rect">
            <a:avLst/>
          </a:prstGeom>
          <a:solidFill>
            <a:srgbClr val="C6501A"/>
          </a:solidFill>
          <a:ln/>
        </p:spPr>
      </p:sp>
      <p:sp>
        <p:nvSpPr>
          <p:cNvPr id="13" name="Text 11"/>
          <p:cNvSpPr/>
          <p:nvPr/>
        </p:nvSpPr>
        <p:spPr>
          <a:xfrm>
            <a:off x="2819329" y="2919230"/>
            <a:ext cx="2082748"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Complete profile / driver / vehicle</a:t>
            </a:r>
            <a:endParaRPr lang="en-US" sz="1600" dirty="0"/>
          </a:p>
        </p:txBody>
      </p:sp>
      <p:sp>
        <p:nvSpPr>
          <p:cNvPr id="14" name="Shape 12"/>
          <p:cNvSpPr/>
          <p:nvPr/>
        </p:nvSpPr>
        <p:spPr>
          <a:xfrm>
            <a:off x="5054474" y="2225873"/>
            <a:ext cx="406390" cy="406400"/>
          </a:xfrm>
          <a:prstGeom prst="ellipse">
            <a:avLst/>
          </a:prstGeom>
          <a:solidFill>
            <a:srgbClr val="C6501A"/>
          </a:solidFill>
          <a:ln w="25399">
            <a:solidFill>
              <a:srgbClr val="FAF9F6"/>
            </a:solidFill>
            <a:prstDash val="solid"/>
          </a:ln>
        </p:spPr>
      </p:sp>
      <p:sp>
        <p:nvSpPr>
          <p:cNvPr id="15" name="Text 13"/>
          <p:cNvSpPr/>
          <p:nvPr/>
        </p:nvSpPr>
        <p:spPr>
          <a:xfrm>
            <a:off x="5143272" y="233382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03</a:t>
            </a:r>
            <a:endParaRPr lang="en-US" sz="1500" dirty="0"/>
          </a:p>
        </p:txBody>
      </p:sp>
      <p:sp>
        <p:nvSpPr>
          <p:cNvPr id="16" name="Shape 14"/>
          <p:cNvSpPr/>
          <p:nvPr/>
        </p:nvSpPr>
        <p:spPr>
          <a:xfrm>
            <a:off x="5054474" y="2733873"/>
            <a:ext cx="2082748" cy="19050"/>
          </a:xfrm>
          <a:prstGeom prst="rect">
            <a:avLst/>
          </a:prstGeom>
          <a:solidFill>
            <a:srgbClr val="C6501A"/>
          </a:solidFill>
          <a:ln/>
        </p:spPr>
      </p:sp>
      <p:sp>
        <p:nvSpPr>
          <p:cNvPr id="17" name="Text 15"/>
          <p:cNvSpPr/>
          <p:nvPr/>
        </p:nvSpPr>
        <p:spPr>
          <a:xfrm>
            <a:off x="5054474" y="2919230"/>
            <a:ext cx="208274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Admin assigns Agent</a:t>
            </a:r>
            <a:endParaRPr lang="en-US" sz="1600" dirty="0"/>
          </a:p>
        </p:txBody>
      </p:sp>
      <p:sp>
        <p:nvSpPr>
          <p:cNvPr id="18" name="Shape 16"/>
          <p:cNvSpPr/>
          <p:nvPr/>
        </p:nvSpPr>
        <p:spPr>
          <a:xfrm>
            <a:off x="7289618" y="2225873"/>
            <a:ext cx="406390" cy="406400"/>
          </a:xfrm>
          <a:prstGeom prst="ellipse">
            <a:avLst/>
          </a:prstGeom>
          <a:solidFill>
            <a:srgbClr val="C6501A"/>
          </a:solidFill>
          <a:ln w="25399">
            <a:solidFill>
              <a:srgbClr val="FAF9F6"/>
            </a:solidFill>
            <a:prstDash val="solid"/>
          </a:ln>
        </p:spPr>
      </p:sp>
      <p:sp>
        <p:nvSpPr>
          <p:cNvPr id="19" name="Text 17"/>
          <p:cNvSpPr/>
          <p:nvPr/>
        </p:nvSpPr>
        <p:spPr>
          <a:xfrm>
            <a:off x="7378416" y="233382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04</a:t>
            </a:r>
            <a:endParaRPr lang="en-US" sz="1500" dirty="0"/>
          </a:p>
        </p:txBody>
      </p:sp>
      <p:sp>
        <p:nvSpPr>
          <p:cNvPr id="20" name="Shape 18"/>
          <p:cNvSpPr/>
          <p:nvPr/>
        </p:nvSpPr>
        <p:spPr>
          <a:xfrm>
            <a:off x="7289618" y="2733873"/>
            <a:ext cx="2082748" cy="19050"/>
          </a:xfrm>
          <a:prstGeom prst="rect">
            <a:avLst/>
          </a:prstGeom>
          <a:solidFill>
            <a:srgbClr val="C6501A"/>
          </a:solidFill>
          <a:ln/>
        </p:spPr>
      </p:sp>
      <p:sp>
        <p:nvSpPr>
          <p:cNvPr id="21" name="Text 19"/>
          <p:cNvSpPr/>
          <p:nvPr/>
        </p:nvSpPr>
        <p:spPr>
          <a:xfrm>
            <a:off x="7289618" y="2919230"/>
            <a:ext cx="208274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Agent configures quote</a:t>
            </a:r>
            <a:endParaRPr lang="en-US" sz="1600" dirty="0"/>
          </a:p>
        </p:txBody>
      </p:sp>
      <p:sp>
        <p:nvSpPr>
          <p:cNvPr id="22" name="Shape 20"/>
          <p:cNvSpPr/>
          <p:nvPr/>
        </p:nvSpPr>
        <p:spPr>
          <a:xfrm>
            <a:off x="9524762" y="1997273"/>
            <a:ext cx="2158946" cy="2338090"/>
          </a:xfrm>
          <a:prstGeom prst="rect">
            <a:avLst/>
          </a:prstGeom>
          <a:noFill/>
          <a:ln w="12700">
            <a:solidFill>
              <a:srgbClr val="C6501A"/>
            </a:solidFill>
            <a:prstDash val="solid"/>
          </a:ln>
        </p:spPr>
      </p:sp>
      <p:sp>
        <p:nvSpPr>
          <p:cNvPr id="23" name="Shape 21"/>
          <p:cNvSpPr/>
          <p:nvPr/>
        </p:nvSpPr>
        <p:spPr>
          <a:xfrm>
            <a:off x="9766056" y="2238573"/>
            <a:ext cx="406390" cy="406400"/>
          </a:xfrm>
          <a:prstGeom prst="ellipse">
            <a:avLst/>
          </a:prstGeom>
          <a:solidFill>
            <a:srgbClr val="C6501A"/>
          </a:solidFill>
          <a:ln w="25399">
            <a:solidFill>
              <a:srgbClr val="FAF9F6"/>
            </a:solidFill>
            <a:prstDash val="solid"/>
          </a:ln>
        </p:spPr>
      </p:sp>
      <p:sp>
        <p:nvSpPr>
          <p:cNvPr id="24" name="Text 22"/>
          <p:cNvSpPr/>
          <p:nvPr/>
        </p:nvSpPr>
        <p:spPr>
          <a:xfrm>
            <a:off x="9854854" y="234652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05</a:t>
            </a:r>
            <a:endParaRPr lang="en-US" sz="1500" dirty="0"/>
          </a:p>
        </p:txBody>
      </p:sp>
      <p:sp>
        <p:nvSpPr>
          <p:cNvPr id="25" name="Shape 23"/>
          <p:cNvSpPr/>
          <p:nvPr/>
        </p:nvSpPr>
        <p:spPr>
          <a:xfrm>
            <a:off x="9766056" y="2746573"/>
            <a:ext cx="1676358" cy="19050"/>
          </a:xfrm>
          <a:prstGeom prst="rect">
            <a:avLst/>
          </a:prstGeom>
          <a:solidFill>
            <a:srgbClr val="C6501A"/>
          </a:solidFill>
          <a:ln/>
        </p:spPr>
      </p:sp>
      <p:sp>
        <p:nvSpPr>
          <p:cNvPr id="26" name="Text 24"/>
          <p:cNvSpPr/>
          <p:nvPr/>
        </p:nvSpPr>
        <p:spPr>
          <a:xfrm>
            <a:off x="9766056" y="2931930"/>
            <a:ext cx="1917652"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Quote finalized</a:t>
            </a:r>
            <a:endParaRPr lang="en-US" sz="1600" dirty="0"/>
          </a:p>
        </p:txBody>
      </p:sp>
      <p:sp>
        <p:nvSpPr>
          <p:cNvPr id="27" name="Text 25"/>
          <p:cNvSpPr/>
          <p:nvPr/>
        </p:nvSpPr>
        <p:spPr>
          <a:xfrm>
            <a:off x="9766056" y="3351312"/>
            <a:ext cx="1917652"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Gate</a:t>
            </a:r>
            <a:endParaRPr lang="en-US" sz="1400" dirty="0"/>
          </a:p>
        </p:txBody>
      </p:sp>
      <p:sp>
        <p:nvSpPr>
          <p:cNvPr id="28" name="Shape 26"/>
          <p:cNvSpPr/>
          <p:nvPr/>
        </p:nvSpPr>
        <p:spPr>
          <a:xfrm>
            <a:off x="507987" y="4716363"/>
            <a:ext cx="406390" cy="406400"/>
          </a:xfrm>
          <a:prstGeom prst="ellipse">
            <a:avLst/>
          </a:prstGeom>
          <a:solidFill>
            <a:srgbClr val="C6501A"/>
          </a:solidFill>
          <a:ln w="25399">
            <a:solidFill>
              <a:srgbClr val="FAF9F6"/>
            </a:solidFill>
            <a:prstDash val="solid"/>
          </a:ln>
        </p:spPr>
      </p:sp>
      <p:sp>
        <p:nvSpPr>
          <p:cNvPr id="29" name="Text 27"/>
          <p:cNvSpPr/>
          <p:nvPr/>
        </p:nvSpPr>
        <p:spPr>
          <a:xfrm>
            <a:off x="596786" y="482431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06</a:t>
            </a:r>
            <a:endParaRPr lang="en-US" sz="1500" dirty="0"/>
          </a:p>
        </p:txBody>
      </p:sp>
      <p:sp>
        <p:nvSpPr>
          <p:cNvPr id="30" name="Shape 28"/>
          <p:cNvSpPr/>
          <p:nvPr/>
        </p:nvSpPr>
        <p:spPr>
          <a:xfrm>
            <a:off x="507987" y="5224363"/>
            <a:ext cx="2158946" cy="19050"/>
          </a:xfrm>
          <a:prstGeom prst="rect">
            <a:avLst/>
          </a:prstGeom>
          <a:solidFill>
            <a:srgbClr val="C6501A"/>
          </a:solidFill>
          <a:ln/>
        </p:spPr>
      </p:sp>
      <p:sp>
        <p:nvSpPr>
          <p:cNvPr id="31" name="Text 29"/>
          <p:cNvSpPr/>
          <p:nvPr/>
        </p:nvSpPr>
        <p:spPr>
          <a:xfrm>
            <a:off x="507987" y="5409720"/>
            <a:ext cx="215894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Underwriter reviews risk</a:t>
            </a:r>
            <a:endParaRPr lang="en-US" sz="1600" dirty="0"/>
          </a:p>
        </p:txBody>
      </p:sp>
      <p:sp>
        <p:nvSpPr>
          <p:cNvPr id="32" name="Shape 30"/>
          <p:cNvSpPr/>
          <p:nvPr/>
        </p:nvSpPr>
        <p:spPr>
          <a:xfrm>
            <a:off x="2819329" y="4487763"/>
            <a:ext cx="2082748" cy="2338090"/>
          </a:xfrm>
          <a:prstGeom prst="rect">
            <a:avLst/>
          </a:prstGeom>
          <a:noFill/>
          <a:ln w="12700">
            <a:solidFill>
              <a:srgbClr val="C6501A"/>
            </a:solidFill>
            <a:prstDash val="solid"/>
          </a:ln>
        </p:spPr>
      </p:sp>
      <p:sp>
        <p:nvSpPr>
          <p:cNvPr id="33" name="Shape 31"/>
          <p:cNvSpPr/>
          <p:nvPr/>
        </p:nvSpPr>
        <p:spPr>
          <a:xfrm>
            <a:off x="3060623" y="4729063"/>
            <a:ext cx="406390" cy="406400"/>
          </a:xfrm>
          <a:prstGeom prst="ellipse">
            <a:avLst/>
          </a:prstGeom>
          <a:solidFill>
            <a:srgbClr val="C6501A"/>
          </a:solidFill>
          <a:ln w="25399">
            <a:solidFill>
              <a:srgbClr val="FAF9F6"/>
            </a:solidFill>
            <a:prstDash val="solid"/>
          </a:ln>
        </p:spPr>
      </p:sp>
      <p:sp>
        <p:nvSpPr>
          <p:cNvPr id="34" name="Text 32"/>
          <p:cNvSpPr/>
          <p:nvPr/>
        </p:nvSpPr>
        <p:spPr>
          <a:xfrm>
            <a:off x="3149422" y="483701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07</a:t>
            </a:r>
            <a:endParaRPr lang="en-US" sz="1500" dirty="0"/>
          </a:p>
        </p:txBody>
      </p:sp>
      <p:sp>
        <p:nvSpPr>
          <p:cNvPr id="35" name="Shape 33"/>
          <p:cNvSpPr/>
          <p:nvPr/>
        </p:nvSpPr>
        <p:spPr>
          <a:xfrm>
            <a:off x="3060623" y="5237063"/>
            <a:ext cx="1600160" cy="19050"/>
          </a:xfrm>
          <a:prstGeom prst="rect">
            <a:avLst/>
          </a:prstGeom>
          <a:solidFill>
            <a:srgbClr val="C6501A"/>
          </a:solidFill>
          <a:ln/>
        </p:spPr>
      </p:sp>
      <p:sp>
        <p:nvSpPr>
          <p:cNvPr id="36" name="Text 34"/>
          <p:cNvSpPr/>
          <p:nvPr/>
        </p:nvSpPr>
        <p:spPr>
          <a:xfrm>
            <a:off x="3060623" y="5422420"/>
            <a:ext cx="1841454"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Offer decision</a:t>
            </a:r>
            <a:endParaRPr lang="en-US" sz="1600" dirty="0"/>
          </a:p>
        </p:txBody>
      </p:sp>
      <p:sp>
        <p:nvSpPr>
          <p:cNvPr id="37" name="Text 35"/>
          <p:cNvSpPr/>
          <p:nvPr/>
        </p:nvSpPr>
        <p:spPr>
          <a:xfrm>
            <a:off x="3060623" y="5841802"/>
            <a:ext cx="1841454"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Gate</a:t>
            </a:r>
            <a:endParaRPr lang="en-US" sz="1400" dirty="0"/>
          </a:p>
        </p:txBody>
      </p:sp>
      <p:sp>
        <p:nvSpPr>
          <p:cNvPr id="38" name="Shape 36"/>
          <p:cNvSpPr/>
          <p:nvPr/>
        </p:nvSpPr>
        <p:spPr>
          <a:xfrm>
            <a:off x="5054474" y="4716363"/>
            <a:ext cx="406390" cy="406400"/>
          </a:xfrm>
          <a:prstGeom prst="ellipse">
            <a:avLst/>
          </a:prstGeom>
          <a:solidFill>
            <a:srgbClr val="C6501A"/>
          </a:solidFill>
          <a:ln w="25399">
            <a:solidFill>
              <a:srgbClr val="FAF9F6"/>
            </a:solidFill>
            <a:prstDash val="solid"/>
          </a:ln>
        </p:spPr>
      </p:sp>
      <p:sp>
        <p:nvSpPr>
          <p:cNvPr id="39" name="Text 37"/>
          <p:cNvSpPr/>
          <p:nvPr/>
        </p:nvSpPr>
        <p:spPr>
          <a:xfrm>
            <a:off x="5143272" y="482431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08</a:t>
            </a:r>
            <a:endParaRPr lang="en-US" sz="1500" dirty="0"/>
          </a:p>
        </p:txBody>
      </p:sp>
      <p:sp>
        <p:nvSpPr>
          <p:cNvPr id="40" name="Shape 38"/>
          <p:cNvSpPr/>
          <p:nvPr/>
        </p:nvSpPr>
        <p:spPr>
          <a:xfrm>
            <a:off x="5054474" y="5224363"/>
            <a:ext cx="2082748" cy="19050"/>
          </a:xfrm>
          <a:prstGeom prst="rect">
            <a:avLst/>
          </a:prstGeom>
          <a:solidFill>
            <a:srgbClr val="C6501A"/>
          </a:solidFill>
          <a:ln/>
        </p:spPr>
      </p:sp>
      <p:sp>
        <p:nvSpPr>
          <p:cNvPr id="41" name="Text 39"/>
          <p:cNvSpPr/>
          <p:nvPr/>
        </p:nvSpPr>
        <p:spPr>
          <a:xfrm>
            <a:off x="5054474" y="5409720"/>
            <a:ext cx="2082748"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Customer accepts and pays first payment</a:t>
            </a:r>
            <a:endParaRPr lang="en-US" sz="1600" dirty="0"/>
          </a:p>
        </p:txBody>
      </p:sp>
      <p:sp>
        <p:nvSpPr>
          <p:cNvPr id="42" name="Shape 40"/>
          <p:cNvSpPr/>
          <p:nvPr/>
        </p:nvSpPr>
        <p:spPr>
          <a:xfrm>
            <a:off x="7289618" y="4487763"/>
            <a:ext cx="2082748" cy="2338090"/>
          </a:xfrm>
          <a:prstGeom prst="rect">
            <a:avLst/>
          </a:prstGeom>
          <a:noFill/>
          <a:ln w="12700">
            <a:solidFill>
              <a:srgbClr val="C6501A"/>
            </a:solidFill>
            <a:prstDash val="solid"/>
          </a:ln>
        </p:spPr>
      </p:sp>
      <p:sp>
        <p:nvSpPr>
          <p:cNvPr id="43" name="Shape 41"/>
          <p:cNvSpPr/>
          <p:nvPr/>
        </p:nvSpPr>
        <p:spPr>
          <a:xfrm>
            <a:off x="7530912" y="4729063"/>
            <a:ext cx="406390" cy="406400"/>
          </a:xfrm>
          <a:prstGeom prst="ellipse">
            <a:avLst/>
          </a:prstGeom>
          <a:solidFill>
            <a:srgbClr val="C6501A"/>
          </a:solidFill>
          <a:ln w="25399">
            <a:solidFill>
              <a:srgbClr val="FAF9F6"/>
            </a:solidFill>
            <a:prstDash val="solid"/>
          </a:ln>
        </p:spPr>
      </p:sp>
      <p:sp>
        <p:nvSpPr>
          <p:cNvPr id="44" name="Text 42"/>
          <p:cNvSpPr/>
          <p:nvPr/>
        </p:nvSpPr>
        <p:spPr>
          <a:xfrm>
            <a:off x="7619710" y="483701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09</a:t>
            </a:r>
            <a:endParaRPr lang="en-US" sz="1500" dirty="0"/>
          </a:p>
        </p:txBody>
      </p:sp>
      <p:sp>
        <p:nvSpPr>
          <p:cNvPr id="45" name="Shape 43"/>
          <p:cNvSpPr/>
          <p:nvPr/>
        </p:nvSpPr>
        <p:spPr>
          <a:xfrm>
            <a:off x="7530912" y="5237063"/>
            <a:ext cx="1600160" cy="19050"/>
          </a:xfrm>
          <a:prstGeom prst="rect">
            <a:avLst/>
          </a:prstGeom>
          <a:solidFill>
            <a:srgbClr val="C6501A"/>
          </a:solidFill>
          <a:ln/>
        </p:spPr>
      </p:sp>
      <p:sp>
        <p:nvSpPr>
          <p:cNvPr id="46" name="Text 44"/>
          <p:cNvSpPr/>
          <p:nvPr/>
        </p:nvSpPr>
        <p:spPr>
          <a:xfrm>
            <a:off x="7530912" y="5422420"/>
            <a:ext cx="1600160" cy="804565"/>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Policy issued with document and schedule</a:t>
            </a:r>
            <a:endParaRPr lang="en-US" sz="1600" dirty="0"/>
          </a:p>
        </p:txBody>
      </p:sp>
      <p:sp>
        <p:nvSpPr>
          <p:cNvPr id="47" name="Text 45"/>
          <p:cNvSpPr/>
          <p:nvPr/>
        </p:nvSpPr>
        <p:spPr>
          <a:xfrm>
            <a:off x="7530912" y="6378178"/>
            <a:ext cx="1841454"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Gate</a:t>
            </a:r>
            <a:endParaRPr lang="en-US" sz="1400" dirty="0"/>
          </a:p>
        </p:txBody>
      </p:sp>
      <p:sp>
        <p:nvSpPr>
          <p:cNvPr id="48" name="Shape 46"/>
          <p:cNvSpPr/>
          <p:nvPr/>
        </p:nvSpPr>
        <p:spPr>
          <a:xfrm>
            <a:off x="9524762" y="4716363"/>
            <a:ext cx="406390" cy="406400"/>
          </a:xfrm>
          <a:prstGeom prst="ellipse">
            <a:avLst/>
          </a:prstGeom>
          <a:solidFill>
            <a:srgbClr val="C6501A"/>
          </a:solidFill>
          <a:ln w="25399">
            <a:solidFill>
              <a:srgbClr val="FAF9F6"/>
            </a:solidFill>
            <a:prstDash val="solid"/>
          </a:ln>
        </p:spPr>
      </p:sp>
      <p:sp>
        <p:nvSpPr>
          <p:cNvPr id="49" name="Text 47"/>
          <p:cNvSpPr/>
          <p:nvPr/>
        </p:nvSpPr>
        <p:spPr>
          <a:xfrm>
            <a:off x="9613560" y="482431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10</a:t>
            </a:r>
            <a:endParaRPr lang="en-US" sz="1500" dirty="0"/>
          </a:p>
        </p:txBody>
      </p:sp>
      <p:sp>
        <p:nvSpPr>
          <p:cNvPr id="50" name="Shape 48"/>
          <p:cNvSpPr/>
          <p:nvPr/>
        </p:nvSpPr>
        <p:spPr>
          <a:xfrm>
            <a:off x="9524762" y="5224363"/>
            <a:ext cx="2158946" cy="19050"/>
          </a:xfrm>
          <a:prstGeom prst="rect">
            <a:avLst/>
          </a:prstGeom>
          <a:solidFill>
            <a:srgbClr val="C6501A"/>
          </a:solidFill>
          <a:ln/>
        </p:spPr>
      </p:sp>
      <p:sp>
        <p:nvSpPr>
          <p:cNvPr id="51" name="Text 49"/>
          <p:cNvSpPr/>
          <p:nvPr/>
        </p:nvSpPr>
        <p:spPr>
          <a:xfrm>
            <a:off x="9524762" y="5409720"/>
            <a:ext cx="2158946"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Servicing, renewal, claims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515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QUOTE CONFIGURATION</a:t>
            </a:r>
            <a:endParaRPr lang="en-US" sz="1400" dirty="0"/>
          </a:p>
        </p:txBody>
      </p:sp>
      <p:sp>
        <p:nvSpPr>
          <p:cNvPr id="3" name="Text 1"/>
          <p:cNvSpPr/>
          <p:nvPr/>
        </p:nvSpPr>
        <p:spPr>
          <a:xfrm>
            <a:off x="507987" y="847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Quotes built from configurable rating rules</a:t>
            </a:r>
            <a:endParaRPr lang="en-US" sz="3400" dirty="0"/>
          </a:p>
        </p:txBody>
      </p:sp>
      <p:sp>
        <p:nvSpPr>
          <p:cNvPr id="4" name="Shape 2"/>
          <p:cNvSpPr/>
          <p:nvPr/>
        </p:nvSpPr>
        <p:spPr>
          <a:xfrm>
            <a:off x="507987" y="1605161"/>
            <a:ext cx="11175621" cy="31651"/>
          </a:xfrm>
          <a:prstGeom prst="roundRect">
            <a:avLst>
              <a:gd name="adj" fmla="val 49998"/>
            </a:avLst>
          </a:prstGeom>
          <a:solidFill>
            <a:srgbClr val="22262B"/>
          </a:solidFill>
          <a:ln/>
        </p:spPr>
      </p:sp>
      <p:sp>
        <p:nvSpPr>
          <p:cNvPr id="5" name="Text 3"/>
          <p:cNvSpPr/>
          <p:nvPr/>
        </p:nvSpPr>
        <p:spPr>
          <a:xfrm>
            <a:off x="507987" y="2801541"/>
            <a:ext cx="839270" cy="254000"/>
          </a:xfrm>
          <a:prstGeom prst="rect">
            <a:avLst/>
          </a:prstGeom>
          <a:noFill/>
          <a:ln/>
        </p:spPr>
        <p:txBody>
          <a:bodyPr wrap="none" lIns="0" tIns="0" rIns="0" bIns="0" rtlCol="0" anchor="t"/>
          <a:lstStyle/>
          <a:p>
            <a:pPr algn="l" indent="0" marL="0">
              <a:lnSpc>
                <a:spcPct val="83000"/>
              </a:lnSpc>
              <a:buNone/>
            </a:pPr>
            <a:r>
              <a:rPr lang="en-US" sz="2000" dirty="0">
                <a:solidFill>
                  <a:srgbClr val="3F5A6C"/>
                </a:solidFill>
                <a:latin typeface="Barlow SemiBold" pitchFamily="34" charset="0"/>
                <a:ea typeface="Barlow SemiBold" pitchFamily="34" charset="-122"/>
                <a:cs typeface="Barlow SemiBold" pitchFamily="34" charset="-120"/>
              </a:rPr>
              <a:t>01</a:t>
            </a:r>
            <a:endParaRPr lang="en-US" sz="2000" dirty="0"/>
          </a:p>
        </p:txBody>
      </p:sp>
      <p:sp>
        <p:nvSpPr>
          <p:cNvPr id="6" name="Shape 4"/>
          <p:cNvSpPr/>
          <p:nvPr/>
        </p:nvSpPr>
        <p:spPr>
          <a:xfrm>
            <a:off x="507987" y="3157141"/>
            <a:ext cx="3521979" cy="19050"/>
          </a:xfrm>
          <a:prstGeom prst="rect">
            <a:avLst/>
          </a:prstGeom>
          <a:solidFill>
            <a:srgbClr val="C6501A"/>
          </a:solidFill>
          <a:ln/>
        </p:spPr>
      </p:sp>
      <p:sp>
        <p:nvSpPr>
          <p:cNvPr id="7" name="Text 5"/>
          <p:cNvSpPr/>
          <p:nvPr/>
        </p:nvSpPr>
        <p:spPr>
          <a:xfrm>
            <a:off x="507987" y="3330759"/>
            <a:ext cx="352197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Inputs</a:t>
            </a:r>
            <a:endParaRPr lang="en-US" sz="2200" dirty="0"/>
          </a:p>
        </p:txBody>
      </p:sp>
      <p:sp>
        <p:nvSpPr>
          <p:cNvPr id="8" name="Text 6"/>
          <p:cNvSpPr/>
          <p:nvPr/>
        </p:nvSpPr>
        <p:spPr>
          <a:xfrm>
            <a:off x="507987" y="3856252"/>
            <a:ext cx="3521979"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Risk context, plan, coverages and limits, deductibles, add-ons</a:t>
            </a:r>
            <a:endParaRPr lang="en-US" sz="1600" dirty="0"/>
          </a:p>
        </p:txBody>
      </p:sp>
      <p:sp>
        <p:nvSpPr>
          <p:cNvPr id="9" name="Shape 7"/>
          <p:cNvSpPr/>
          <p:nvPr/>
        </p:nvSpPr>
        <p:spPr>
          <a:xfrm>
            <a:off x="4334759" y="2572941"/>
            <a:ext cx="3522078" cy="2183606"/>
          </a:xfrm>
          <a:prstGeom prst="rect">
            <a:avLst/>
          </a:prstGeom>
          <a:solidFill>
            <a:srgbClr val="E8EDF0"/>
          </a:solidFill>
          <a:ln/>
        </p:spPr>
      </p:sp>
      <p:sp>
        <p:nvSpPr>
          <p:cNvPr id="10" name="Text 8"/>
          <p:cNvSpPr/>
          <p:nvPr/>
        </p:nvSpPr>
        <p:spPr>
          <a:xfrm>
            <a:off x="4563353" y="2801541"/>
            <a:ext cx="893839" cy="254000"/>
          </a:xfrm>
          <a:prstGeom prst="rect">
            <a:avLst/>
          </a:prstGeom>
          <a:noFill/>
          <a:ln/>
        </p:spPr>
        <p:txBody>
          <a:bodyPr wrap="none" lIns="0" tIns="0" rIns="0" bIns="0" rtlCol="0" anchor="t"/>
          <a:lstStyle/>
          <a:p>
            <a:pPr algn="l" indent="0" marL="0">
              <a:lnSpc>
                <a:spcPct val="83000"/>
              </a:lnSpc>
              <a:buNone/>
            </a:pPr>
            <a:r>
              <a:rPr lang="en-US" sz="2000" dirty="0">
                <a:solidFill>
                  <a:srgbClr val="3F5A6C"/>
                </a:solidFill>
                <a:latin typeface="Barlow SemiBold" pitchFamily="34" charset="0"/>
                <a:ea typeface="Barlow SemiBold" pitchFamily="34" charset="-122"/>
                <a:cs typeface="Barlow SemiBold" pitchFamily="34" charset="-120"/>
              </a:rPr>
              <a:t>02</a:t>
            </a:r>
            <a:endParaRPr lang="en-US" sz="2000" dirty="0"/>
          </a:p>
        </p:txBody>
      </p:sp>
      <p:sp>
        <p:nvSpPr>
          <p:cNvPr id="11" name="Shape 9"/>
          <p:cNvSpPr/>
          <p:nvPr/>
        </p:nvSpPr>
        <p:spPr>
          <a:xfrm>
            <a:off x="4563353" y="3157141"/>
            <a:ext cx="3064791" cy="19050"/>
          </a:xfrm>
          <a:prstGeom prst="rect">
            <a:avLst/>
          </a:prstGeom>
          <a:solidFill>
            <a:srgbClr val="C6501A"/>
          </a:solidFill>
          <a:ln/>
        </p:spPr>
      </p:sp>
      <p:sp>
        <p:nvSpPr>
          <p:cNvPr id="12" name="Text 10"/>
          <p:cNvSpPr/>
          <p:nvPr/>
        </p:nvSpPr>
        <p:spPr>
          <a:xfrm>
            <a:off x="4563353" y="3330759"/>
            <a:ext cx="3064890"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Rating rules</a:t>
            </a:r>
            <a:endParaRPr lang="en-US" sz="2200" dirty="0"/>
          </a:p>
        </p:txBody>
      </p:sp>
      <p:sp>
        <p:nvSpPr>
          <p:cNvPr id="13" name="Text 11"/>
          <p:cNvSpPr/>
          <p:nvPr/>
        </p:nvSpPr>
        <p:spPr>
          <a:xfrm>
            <a:off x="4563353" y="3856252"/>
            <a:ext cx="3293484"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Configurable calculation factors</a:t>
            </a:r>
            <a:endParaRPr lang="en-US" sz="1600" dirty="0"/>
          </a:p>
        </p:txBody>
      </p:sp>
      <p:sp>
        <p:nvSpPr>
          <p:cNvPr id="14" name="Text 12"/>
          <p:cNvSpPr/>
          <p:nvPr/>
        </p:nvSpPr>
        <p:spPr>
          <a:xfrm>
            <a:off x="4563353" y="4275634"/>
            <a:ext cx="3293484"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22262B"/>
                </a:solidFill>
                <a:latin typeface="Roboto Mono Medium" pitchFamily="34" charset="0"/>
                <a:ea typeface="Roboto Mono Medium" pitchFamily="34" charset="-122"/>
                <a:cs typeface="Roboto Mono Medium" pitchFamily="34" charset="-120"/>
              </a:rPr>
              <a:t>No fixed formula shown</a:t>
            </a:r>
            <a:endParaRPr lang="en-US" sz="1400" dirty="0"/>
          </a:p>
        </p:txBody>
      </p:sp>
      <p:sp>
        <p:nvSpPr>
          <p:cNvPr id="15" name="Text 13"/>
          <p:cNvSpPr/>
          <p:nvPr/>
        </p:nvSpPr>
        <p:spPr>
          <a:xfrm>
            <a:off x="8161629" y="2801541"/>
            <a:ext cx="888779" cy="254000"/>
          </a:xfrm>
          <a:prstGeom prst="rect">
            <a:avLst/>
          </a:prstGeom>
          <a:noFill/>
          <a:ln/>
        </p:spPr>
        <p:txBody>
          <a:bodyPr wrap="none" lIns="0" tIns="0" rIns="0" bIns="0" rtlCol="0" anchor="t"/>
          <a:lstStyle/>
          <a:p>
            <a:pPr algn="l" indent="0" marL="0">
              <a:lnSpc>
                <a:spcPct val="83000"/>
              </a:lnSpc>
              <a:buNone/>
            </a:pPr>
            <a:r>
              <a:rPr lang="en-US" sz="2000" dirty="0">
                <a:solidFill>
                  <a:srgbClr val="3F5A6C"/>
                </a:solidFill>
                <a:latin typeface="Barlow SemiBold" pitchFamily="34" charset="0"/>
                <a:ea typeface="Barlow SemiBold" pitchFamily="34" charset="-122"/>
                <a:cs typeface="Barlow SemiBold" pitchFamily="34" charset="-120"/>
              </a:rPr>
              <a:t>03</a:t>
            </a:r>
            <a:endParaRPr lang="en-US" sz="2000" dirty="0"/>
          </a:p>
        </p:txBody>
      </p:sp>
      <p:sp>
        <p:nvSpPr>
          <p:cNvPr id="16" name="Shape 14"/>
          <p:cNvSpPr/>
          <p:nvPr/>
        </p:nvSpPr>
        <p:spPr>
          <a:xfrm>
            <a:off x="8161629" y="3157141"/>
            <a:ext cx="3521979" cy="19050"/>
          </a:xfrm>
          <a:prstGeom prst="rect">
            <a:avLst/>
          </a:prstGeom>
          <a:solidFill>
            <a:srgbClr val="C6501A"/>
          </a:solidFill>
          <a:ln/>
        </p:spPr>
      </p:sp>
      <p:sp>
        <p:nvSpPr>
          <p:cNvPr id="17" name="Text 15"/>
          <p:cNvSpPr/>
          <p:nvPr/>
        </p:nvSpPr>
        <p:spPr>
          <a:xfrm>
            <a:off x="8161629" y="3330759"/>
            <a:ext cx="352207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Quote</a:t>
            </a:r>
            <a:endParaRPr lang="en-US" sz="2200" dirty="0"/>
          </a:p>
        </p:txBody>
      </p:sp>
      <p:sp>
        <p:nvSpPr>
          <p:cNvPr id="18" name="Text 16"/>
          <p:cNvSpPr/>
          <p:nvPr/>
        </p:nvSpPr>
        <p:spPr>
          <a:xfrm>
            <a:off x="8161629" y="3842345"/>
            <a:ext cx="3522078" cy="685602"/>
          </a:xfrm>
          <a:prstGeom prst="rect">
            <a:avLst/>
          </a:prstGeom>
          <a:noFill/>
          <a:ln/>
        </p:spPr>
        <p:txBody>
          <a:bodyPr wrap="square" lIns="0" tIns="0" rIns="0" bIns="0" rtlCol="0" anchor="t"/>
          <a:lstStyle/>
          <a:p>
            <a:pPr algn="l" indent="0" marL="0">
              <a:lnSpc>
                <a:spcPct val="110000"/>
              </a:lnSpc>
              <a:spcAft>
                <a:spcPts val="1150"/>
              </a:spcAft>
              <a:buNone/>
            </a:pPr>
            <a:r>
              <a:rPr lang="en-US" sz="1600" dirty="0">
                <a:solidFill>
                  <a:srgbClr val="22262B"/>
                </a:solidFill>
                <a:latin typeface="Barlow" pitchFamily="34" charset="0"/>
                <a:ea typeface="Barlow" pitchFamily="34" charset="-122"/>
                <a:cs typeface="Barlow" pitchFamily="34" charset="-120"/>
              </a:rPr>
              <a:t>Revise → finalize</a:t>
            </a:r>
            <a:endParaRPr lang="en-US" sz="1600" dirty="0"/>
          </a:p>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Snapshots preserve values</a:t>
            </a:r>
            <a:endParaRPr lang="en-US" sz="1600" dirty="0"/>
          </a:p>
        </p:txBody>
      </p:sp>
      <p:sp>
        <p:nvSpPr>
          <p:cNvPr id="19" name="Shape 17"/>
          <p:cNvSpPr/>
          <p:nvPr/>
        </p:nvSpPr>
        <p:spPr>
          <a:xfrm>
            <a:off x="507987" y="5692577"/>
            <a:ext cx="11175621" cy="31651"/>
          </a:xfrm>
          <a:prstGeom prst="roundRect">
            <a:avLst>
              <a:gd name="adj" fmla="val 49998"/>
            </a:avLst>
          </a:prstGeom>
          <a:solidFill>
            <a:srgbClr val="22262B"/>
          </a:solidFill>
          <a:ln/>
        </p:spPr>
      </p:sp>
      <p:sp>
        <p:nvSpPr>
          <p:cNvPr id="20" name="Text 18"/>
          <p:cNvSpPr/>
          <p:nvPr/>
        </p:nvSpPr>
        <p:spPr>
          <a:xfrm>
            <a:off x="507987" y="6035794"/>
            <a:ext cx="11683708" cy="335260"/>
          </a:xfrm>
          <a:prstGeom prst="rect">
            <a:avLst/>
          </a:prstGeom>
          <a:noFill/>
          <a:ln/>
        </p:spPr>
        <p:txBody>
          <a:bodyPr wrap="none" lIns="0" tIns="0" rIns="0" bIns="0" rtlCol="0" anchor="t"/>
          <a:lstStyle/>
          <a:p>
            <a:pPr algn="l" indent="0" marL="0">
              <a:lnSpc>
                <a:spcPct val="110000"/>
              </a:lnSpc>
              <a:buNone/>
            </a:pPr>
            <a:r>
              <a:rPr lang="en-US" sz="2000" dirty="0">
                <a:solidFill>
                  <a:srgbClr val="22262B"/>
                </a:solidFill>
                <a:latin typeface="Barlow" pitchFamily="34" charset="0"/>
                <a:ea typeface="Barlow" pitchFamily="34" charset="-122"/>
                <a:cs typeface="Barlow" pitchFamily="34" charset="-120"/>
              </a:rPr>
              <a:t>Admin configures pricing categories.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7987" y="3122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RISK DECISION</a:t>
            </a:r>
            <a:endParaRPr lang="en-US" sz="1400" dirty="0"/>
          </a:p>
        </p:txBody>
      </p:sp>
      <p:sp>
        <p:nvSpPr>
          <p:cNvPr id="3" name="Text 1"/>
          <p:cNvSpPr/>
          <p:nvPr/>
        </p:nvSpPr>
        <p:spPr>
          <a:xfrm>
            <a:off x="507987" y="6443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Underwriting turns a quote into a decision</a:t>
            </a:r>
            <a:endParaRPr lang="en-US" sz="3400" dirty="0"/>
          </a:p>
        </p:txBody>
      </p:sp>
      <p:sp>
        <p:nvSpPr>
          <p:cNvPr id="4" name="Shape 2"/>
          <p:cNvSpPr/>
          <p:nvPr/>
        </p:nvSpPr>
        <p:spPr>
          <a:xfrm>
            <a:off x="507987" y="1401961"/>
            <a:ext cx="11175621" cy="31651"/>
          </a:xfrm>
          <a:prstGeom prst="roundRect">
            <a:avLst>
              <a:gd name="adj" fmla="val 49998"/>
            </a:avLst>
          </a:prstGeom>
          <a:solidFill>
            <a:srgbClr val="22262B"/>
          </a:solidFill>
          <a:ln/>
        </p:spPr>
      </p:sp>
      <p:sp>
        <p:nvSpPr>
          <p:cNvPr id="5" name="Shape 3"/>
          <p:cNvSpPr/>
          <p:nvPr/>
        </p:nvSpPr>
        <p:spPr>
          <a:xfrm>
            <a:off x="507987" y="1724223"/>
            <a:ext cx="3648976" cy="1517055"/>
          </a:xfrm>
          <a:prstGeom prst="roundRect">
            <a:avLst>
              <a:gd name="adj" fmla="val 753"/>
            </a:avLst>
          </a:prstGeom>
          <a:noFill/>
          <a:ln w="25399">
            <a:solidFill>
              <a:srgbClr val="D4D2CA"/>
            </a:solidFill>
            <a:prstDash val="solid"/>
          </a:ln>
        </p:spPr>
      </p:sp>
      <p:sp>
        <p:nvSpPr>
          <p:cNvPr id="6" name="Shape 4"/>
          <p:cNvSpPr/>
          <p:nvPr/>
        </p:nvSpPr>
        <p:spPr>
          <a:xfrm>
            <a:off x="761981" y="1978223"/>
            <a:ext cx="406390" cy="406400"/>
          </a:xfrm>
          <a:prstGeom prst="ellipse">
            <a:avLst/>
          </a:prstGeom>
          <a:solidFill>
            <a:srgbClr val="C6501A"/>
          </a:solidFill>
          <a:ln w="25399">
            <a:solidFill>
              <a:srgbClr val="FAF9F6"/>
            </a:solidFill>
            <a:prstDash val="solid"/>
          </a:ln>
        </p:spPr>
      </p:sp>
      <p:sp>
        <p:nvSpPr>
          <p:cNvPr id="7" name="Text 5"/>
          <p:cNvSpPr/>
          <p:nvPr/>
        </p:nvSpPr>
        <p:spPr>
          <a:xfrm>
            <a:off x="850779" y="20861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01</a:t>
            </a:r>
            <a:endParaRPr lang="en-US" sz="1500" dirty="0"/>
          </a:p>
        </p:txBody>
      </p:sp>
      <p:sp>
        <p:nvSpPr>
          <p:cNvPr id="8" name="Shape 6"/>
          <p:cNvSpPr/>
          <p:nvPr/>
        </p:nvSpPr>
        <p:spPr>
          <a:xfrm>
            <a:off x="761981" y="2486223"/>
            <a:ext cx="3140989" cy="19050"/>
          </a:xfrm>
          <a:prstGeom prst="rect">
            <a:avLst/>
          </a:prstGeom>
          <a:solidFill>
            <a:srgbClr val="C6501A"/>
          </a:solidFill>
          <a:ln/>
        </p:spPr>
      </p:sp>
      <p:sp>
        <p:nvSpPr>
          <p:cNvPr id="9" name="Text 7"/>
          <p:cNvSpPr/>
          <p:nvPr/>
        </p:nvSpPr>
        <p:spPr>
          <a:xfrm>
            <a:off x="761981" y="2659842"/>
            <a:ext cx="314098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Finalized quote</a:t>
            </a:r>
            <a:endParaRPr lang="en-US" sz="2200" dirty="0"/>
          </a:p>
        </p:txBody>
      </p:sp>
      <p:sp>
        <p:nvSpPr>
          <p:cNvPr id="10" name="Shape 8"/>
          <p:cNvSpPr/>
          <p:nvPr/>
        </p:nvSpPr>
        <p:spPr>
          <a:xfrm>
            <a:off x="4309359" y="1724223"/>
            <a:ext cx="3572877" cy="1517055"/>
          </a:xfrm>
          <a:prstGeom prst="roundRect">
            <a:avLst>
              <a:gd name="adj" fmla="val 753"/>
            </a:avLst>
          </a:prstGeom>
          <a:noFill/>
          <a:ln w="25399">
            <a:solidFill>
              <a:srgbClr val="D4D2CA"/>
            </a:solidFill>
            <a:prstDash val="solid"/>
          </a:ln>
        </p:spPr>
      </p:sp>
      <p:sp>
        <p:nvSpPr>
          <p:cNvPr id="11" name="Shape 9"/>
          <p:cNvSpPr/>
          <p:nvPr/>
        </p:nvSpPr>
        <p:spPr>
          <a:xfrm>
            <a:off x="4563353" y="1978223"/>
            <a:ext cx="406390" cy="406400"/>
          </a:xfrm>
          <a:prstGeom prst="ellipse">
            <a:avLst/>
          </a:prstGeom>
          <a:solidFill>
            <a:srgbClr val="C6501A"/>
          </a:solidFill>
          <a:ln w="25399">
            <a:solidFill>
              <a:srgbClr val="FAF9F6"/>
            </a:solidFill>
            <a:prstDash val="solid"/>
          </a:ln>
        </p:spPr>
      </p:sp>
      <p:sp>
        <p:nvSpPr>
          <p:cNvPr id="12" name="Text 10"/>
          <p:cNvSpPr/>
          <p:nvPr/>
        </p:nvSpPr>
        <p:spPr>
          <a:xfrm>
            <a:off x="4652152" y="20861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02</a:t>
            </a:r>
            <a:endParaRPr lang="en-US" sz="1500" dirty="0"/>
          </a:p>
        </p:txBody>
      </p:sp>
      <p:sp>
        <p:nvSpPr>
          <p:cNvPr id="13" name="Shape 11"/>
          <p:cNvSpPr/>
          <p:nvPr/>
        </p:nvSpPr>
        <p:spPr>
          <a:xfrm>
            <a:off x="4563353" y="2486223"/>
            <a:ext cx="3064791" cy="19050"/>
          </a:xfrm>
          <a:prstGeom prst="rect">
            <a:avLst/>
          </a:prstGeom>
          <a:solidFill>
            <a:srgbClr val="C6501A"/>
          </a:solidFill>
          <a:ln/>
        </p:spPr>
      </p:sp>
      <p:sp>
        <p:nvSpPr>
          <p:cNvPr id="14" name="Text 12"/>
          <p:cNvSpPr/>
          <p:nvPr/>
        </p:nvSpPr>
        <p:spPr>
          <a:xfrm>
            <a:off x="4563353" y="2659842"/>
            <a:ext cx="3064890"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Application snapshot</a:t>
            </a:r>
            <a:endParaRPr lang="en-US" sz="2200" dirty="0"/>
          </a:p>
        </p:txBody>
      </p:sp>
      <p:sp>
        <p:nvSpPr>
          <p:cNvPr id="15" name="Shape 13"/>
          <p:cNvSpPr/>
          <p:nvPr/>
        </p:nvSpPr>
        <p:spPr>
          <a:xfrm>
            <a:off x="8034633" y="1724223"/>
            <a:ext cx="3649075" cy="1517055"/>
          </a:xfrm>
          <a:prstGeom prst="roundRect">
            <a:avLst>
              <a:gd name="adj" fmla="val 753"/>
            </a:avLst>
          </a:prstGeom>
          <a:noFill/>
          <a:ln w="25399">
            <a:solidFill>
              <a:srgbClr val="D4D2CA"/>
            </a:solidFill>
            <a:prstDash val="solid"/>
          </a:ln>
        </p:spPr>
      </p:sp>
      <p:sp>
        <p:nvSpPr>
          <p:cNvPr id="16" name="Shape 14"/>
          <p:cNvSpPr/>
          <p:nvPr/>
        </p:nvSpPr>
        <p:spPr>
          <a:xfrm>
            <a:off x="8288626" y="1978223"/>
            <a:ext cx="406390" cy="406400"/>
          </a:xfrm>
          <a:prstGeom prst="ellipse">
            <a:avLst/>
          </a:prstGeom>
          <a:solidFill>
            <a:srgbClr val="C6501A"/>
          </a:solidFill>
          <a:ln w="25399">
            <a:solidFill>
              <a:srgbClr val="FAF9F6"/>
            </a:solidFill>
            <a:prstDash val="solid"/>
          </a:ln>
        </p:spPr>
      </p:sp>
      <p:sp>
        <p:nvSpPr>
          <p:cNvPr id="17" name="Text 15"/>
          <p:cNvSpPr/>
          <p:nvPr/>
        </p:nvSpPr>
        <p:spPr>
          <a:xfrm>
            <a:off x="8377425" y="20861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03</a:t>
            </a:r>
            <a:endParaRPr lang="en-US" sz="1500" dirty="0"/>
          </a:p>
        </p:txBody>
      </p:sp>
      <p:sp>
        <p:nvSpPr>
          <p:cNvPr id="18" name="Shape 16"/>
          <p:cNvSpPr/>
          <p:nvPr/>
        </p:nvSpPr>
        <p:spPr>
          <a:xfrm>
            <a:off x="8288626" y="2486223"/>
            <a:ext cx="3140989" cy="19050"/>
          </a:xfrm>
          <a:prstGeom prst="rect">
            <a:avLst/>
          </a:prstGeom>
          <a:solidFill>
            <a:srgbClr val="C6501A"/>
          </a:solidFill>
          <a:ln/>
        </p:spPr>
      </p:sp>
      <p:sp>
        <p:nvSpPr>
          <p:cNvPr id="19" name="Text 17"/>
          <p:cNvSpPr/>
          <p:nvPr/>
        </p:nvSpPr>
        <p:spPr>
          <a:xfrm>
            <a:off x="8288626" y="2659842"/>
            <a:ext cx="31410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Admin assignment</a:t>
            </a:r>
            <a:endParaRPr lang="en-US" sz="2200" dirty="0"/>
          </a:p>
        </p:txBody>
      </p:sp>
      <p:sp>
        <p:nvSpPr>
          <p:cNvPr id="20" name="Shape 18"/>
          <p:cNvSpPr/>
          <p:nvPr/>
        </p:nvSpPr>
        <p:spPr>
          <a:xfrm>
            <a:off x="507987" y="3393678"/>
            <a:ext cx="3648976" cy="2186781"/>
          </a:xfrm>
          <a:prstGeom prst="rect">
            <a:avLst/>
          </a:prstGeom>
          <a:solidFill>
            <a:srgbClr val="E8EDF0"/>
          </a:solidFill>
          <a:ln/>
        </p:spPr>
      </p:sp>
      <p:sp>
        <p:nvSpPr>
          <p:cNvPr id="21" name="Shape 19"/>
          <p:cNvSpPr/>
          <p:nvPr/>
        </p:nvSpPr>
        <p:spPr>
          <a:xfrm>
            <a:off x="736582" y="3622278"/>
            <a:ext cx="406390" cy="406400"/>
          </a:xfrm>
          <a:prstGeom prst="ellipse">
            <a:avLst/>
          </a:prstGeom>
          <a:solidFill>
            <a:srgbClr val="C6501A"/>
          </a:solidFill>
          <a:ln w="25399">
            <a:solidFill>
              <a:srgbClr val="FAF9F6"/>
            </a:solidFill>
            <a:prstDash val="solid"/>
          </a:ln>
        </p:spPr>
      </p:sp>
      <p:sp>
        <p:nvSpPr>
          <p:cNvPr id="22" name="Text 20"/>
          <p:cNvSpPr/>
          <p:nvPr/>
        </p:nvSpPr>
        <p:spPr>
          <a:xfrm>
            <a:off x="825380" y="3730228"/>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04</a:t>
            </a:r>
            <a:endParaRPr lang="en-US" sz="1500" dirty="0"/>
          </a:p>
        </p:txBody>
      </p:sp>
      <p:sp>
        <p:nvSpPr>
          <p:cNvPr id="23" name="Shape 21"/>
          <p:cNvSpPr/>
          <p:nvPr/>
        </p:nvSpPr>
        <p:spPr>
          <a:xfrm>
            <a:off x="736582" y="4130278"/>
            <a:ext cx="3191688" cy="19050"/>
          </a:xfrm>
          <a:prstGeom prst="rect">
            <a:avLst/>
          </a:prstGeom>
          <a:solidFill>
            <a:srgbClr val="C6501A"/>
          </a:solidFill>
          <a:ln/>
        </p:spPr>
      </p:sp>
      <p:sp>
        <p:nvSpPr>
          <p:cNvPr id="24" name="Text 22"/>
          <p:cNvSpPr/>
          <p:nvPr/>
        </p:nvSpPr>
        <p:spPr>
          <a:xfrm>
            <a:off x="736582" y="4303896"/>
            <a:ext cx="3191787"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Underwriter review</a:t>
            </a:r>
            <a:endParaRPr lang="en-US" sz="2200" dirty="0"/>
          </a:p>
        </p:txBody>
      </p:sp>
      <p:sp>
        <p:nvSpPr>
          <p:cNvPr id="25" name="Text 23"/>
          <p:cNvSpPr/>
          <p:nvPr/>
        </p:nvSpPr>
        <p:spPr>
          <a:xfrm>
            <a:off x="736582" y="4829389"/>
            <a:ext cx="3191787" cy="536377"/>
          </a:xfrm>
          <a:prstGeom prst="rect">
            <a:avLst/>
          </a:prstGeom>
          <a:noFill/>
          <a:ln/>
        </p:spPr>
        <p:txBody>
          <a:bodyPr wrap="square" lIns="0" tIns="0" rIns="0" bIns="0" rtlCol="0" anchor="t">
            <a:normAutofit/>
          </a:bodyPr>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Driver · Vehicle</a:t>
            </a:r>
            <a:endParaRPr lang="en-US" sz="1600" dirty="0"/>
          </a:p>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Insurance Quote · Overall Risk</a:t>
            </a:r>
            <a:endParaRPr lang="en-US" sz="1600" dirty="0"/>
          </a:p>
        </p:txBody>
      </p:sp>
      <p:sp>
        <p:nvSpPr>
          <p:cNvPr id="26" name="Shape 24"/>
          <p:cNvSpPr/>
          <p:nvPr/>
        </p:nvSpPr>
        <p:spPr>
          <a:xfrm>
            <a:off x="4309359" y="3393678"/>
            <a:ext cx="3572877" cy="2186781"/>
          </a:xfrm>
          <a:prstGeom prst="rect">
            <a:avLst/>
          </a:prstGeom>
          <a:noFill/>
          <a:ln w="12700">
            <a:solidFill>
              <a:srgbClr val="C6501A"/>
            </a:solidFill>
            <a:prstDash val="solid"/>
          </a:ln>
        </p:spPr>
      </p:sp>
      <p:sp>
        <p:nvSpPr>
          <p:cNvPr id="27" name="Shape 25"/>
          <p:cNvSpPr/>
          <p:nvPr/>
        </p:nvSpPr>
        <p:spPr>
          <a:xfrm>
            <a:off x="4550653" y="3634978"/>
            <a:ext cx="406390" cy="406400"/>
          </a:xfrm>
          <a:prstGeom prst="ellipse">
            <a:avLst/>
          </a:prstGeom>
          <a:solidFill>
            <a:srgbClr val="C6501A"/>
          </a:solidFill>
          <a:ln w="25399">
            <a:solidFill>
              <a:srgbClr val="FAF9F6"/>
            </a:solidFill>
            <a:prstDash val="solid"/>
          </a:ln>
        </p:spPr>
      </p:sp>
      <p:sp>
        <p:nvSpPr>
          <p:cNvPr id="28" name="Text 26"/>
          <p:cNvSpPr/>
          <p:nvPr/>
        </p:nvSpPr>
        <p:spPr>
          <a:xfrm>
            <a:off x="4639452" y="3742928"/>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05</a:t>
            </a:r>
            <a:endParaRPr lang="en-US" sz="1500" dirty="0"/>
          </a:p>
        </p:txBody>
      </p:sp>
      <p:sp>
        <p:nvSpPr>
          <p:cNvPr id="29" name="Shape 27"/>
          <p:cNvSpPr/>
          <p:nvPr/>
        </p:nvSpPr>
        <p:spPr>
          <a:xfrm>
            <a:off x="4550653" y="4142978"/>
            <a:ext cx="3090289" cy="19050"/>
          </a:xfrm>
          <a:prstGeom prst="rect">
            <a:avLst/>
          </a:prstGeom>
          <a:solidFill>
            <a:srgbClr val="C6501A"/>
          </a:solidFill>
          <a:ln/>
        </p:spPr>
      </p:sp>
      <p:sp>
        <p:nvSpPr>
          <p:cNvPr id="30" name="Text 28"/>
          <p:cNvSpPr/>
          <p:nvPr/>
        </p:nvSpPr>
        <p:spPr>
          <a:xfrm>
            <a:off x="4550653" y="4316596"/>
            <a:ext cx="309028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Approve / Reject</a:t>
            </a:r>
            <a:endParaRPr lang="en-US" sz="2200" dirty="0"/>
          </a:p>
        </p:txBody>
      </p:sp>
      <p:sp>
        <p:nvSpPr>
          <p:cNvPr id="31" name="Shape 29"/>
          <p:cNvSpPr/>
          <p:nvPr/>
        </p:nvSpPr>
        <p:spPr>
          <a:xfrm>
            <a:off x="8034633" y="3393678"/>
            <a:ext cx="3649075" cy="2186781"/>
          </a:xfrm>
          <a:prstGeom prst="roundRect">
            <a:avLst>
              <a:gd name="adj" fmla="val 523"/>
            </a:avLst>
          </a:prstGeom>
          <a:noFill/>
          <a:ln w="25399">
            <a:solidFill>
              <a:srgbClr val="D4D2CA"/>
            </a:solidFill>
            <a:prstDash val="solid"/>
          </a:ln>
        </p:spPr>
      </p:sp>
      <p:sp>
        <p:nvSpPr>
          <p:cNvPr id="32" name="Shape 30"/>
          <p:cNvSpPr/>
          <p:nvPr/>
        </p:nvSpPr>
        <p:spPr>
          <a:xfrm>
            <a:off x="8288626" y="3647678"/>
            <a:ext cx="406390" cy="406400"/>
          </a:xfrm>
          <a:prstGeom prst="ellipse">
            <a:avLst/>
          </a:prstGeom>
          <a:solidFill>
            <a:srgbClr val="C6501A"/>
          </a:solidFill>
          <a:ln w="25399">
            <a:solidFill>
              <a:srgbClr val="FAF9F6"/>
            </a:solidFill>
            <a:prstDash val="solid"/>
          </a:ln>
        </p:spPr>
      </p:sp>
      <p:sp>
        <p:nvSpPr>
          <p:cNvPr id="33" name="Text 31"/>
          <p:cNvSpPr/>
          <p:nvPr/>
        </p:nvSpPr>
        <p:spPr>
          <a:xfrm>
            <a:off x="8377425" y="3755628"/>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06</a:t>
            </a:r>
            <a:endParaRPr lang="en-US" sz="1500" dirty="0"/>
          </a:p>
        </p:txBody>
      </p:sp>
      <p:sp>
        <p:nvSpPr>
          <p:cNvPr id="34" name="Shape 32"/>
          <p:cNvSpPr/>
          <p:nvPr/>
        </p:nvSpPr>
        <p:spPr>
          <a:xfrm>
            <a:off x="8288626" y="4155678"/>
            <a:ext cx="3140989" cy="19050"/>
          </a:xfrm>
          <a:prstGeom prst="rect">
            <a:avLst/>
          </a:prstGeom>
          <a:solidFill>
            <a:srgbClr val="C6501A"/>
          </a:solidFill>
          <a:ln/>
        </p:spPr>
      </p:sp>
      <p:sp>
        <p:nvSpPr>
          <p:cNvPr id="35" name="Text 33"/>
          <p:cNvSpPr/>
          <p:nvPr/>
        </p:nvSpPr>
        <p:spPr>
          <a:xfrm>
            <a:off x="8288626" y="4329296"/>
            <a:ext cx="31410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Customer offer path</a:t>
            </a:r>
            <a:endParaRPr lang="en-US" sz="2200" dirty="0"/>
          </a:p>
        </p:txBody>
      </p:sp>
      <p:sp>
        <p:nvSpPr>
          <p:cNvPr id="36" name="Text 34"/>
          <p:cNvSpPr/>
          <p:nvPr/>
        </p:nvSpPr>
        <p:spPr>
          <a:xfrm>
            <a:off x="507987" y="5822966"/>
            <a:ext cx="1168370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Status history and decision records are kept.</a:t>
            </a:r>
            <a:endParaRPr lang="en-US" sz="1600" dirty="0"/>
          </a:p>
        </p:txBody>
      </p:sp>
      <p:sp>
        <p:nvSpPr>
          <p:cNvPr id="37" name="Text 35"/>
          <p:cNvSpPr/>
          <p:nvPr/>
        </p:nvSpPr>
        <p:spPr>
          <a:xfrm>
            <a:off x="507987" y="6321723"/>
            <a:ext cx="11683708"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In progress: Customer-side endpoints are pending verification.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7987" y="5154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PURCHASE AND SERVICING</a:t>
            </a:r>
            <a:endParaRPr lang="en-US" sz="1400" dirty="0"/>
          </a:p>
        </p:txBody>
      </p:sp>
      <p:sp>
        <p:nvSpPr>
          <p:cNvPr id="3" name="Text 1"/>
          <p:cNvSpPr/>
          <p:nvPr/>
        </p:nvSpPr>
        <p:spPr>
          <a:xfrm>
            <a:off x="507987" y="8475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Purchase, policy and billing</a:t>
            </a:r>
            <a:endParaRPr lang="en-US" sz="3400" dirty="0"/>
          </a:p>
        </p:txBody>
      </p:sp>
      <p:sp>
        <p:nvSpPr>
          <p:cNvPr id="4" name="Shape 2"/>
          <p:cNvSpPr/>
          <p:nvPr/>
        </p:nvSpPr>
        <p:spPr>
          <a:xfrm>
            <a:off x="507987" y="1605161"/>
            <a:ext cx="11175621" cy="31651"/>
          </a:xfrm>
          <a:prstGeom prst="roundRect">
            <a:avLst>
              <a:gd name="adj" fmla="val 49998"/>
            </a:avLst>
          </a:prstGeom>
          <a:solidFill>
            <a:srgbClr val="22262B"/>
          </a:solidFill>
          <a:ln/>
        </p:spPr>
      </p:sp>
      <p:sp>
        <p:nvSpPr>
          <p:cNvPr id="5" name="Shape 3"/>
          <p:cNvSpPr/>
          <p:nvPr/>
        </p:nvSpPr>
        <p:spPr>
          <a:xfrm>
            <a:off x="507987" y="1927423"/>
            <a:ext cx="2679633" cy="3412034"/>
          </a:xfrm>
          <a:prstGeom prst="roundRect">
            <a:avLst>
              <a:gd name="adj" fmla="val 427"/>
            </a:avLst>
          </a:prstGeom>
          <a:noFill/>
          <a:ln w="25399">
            <a:solidFill>
              <a:srgbClr val="D4D2CA"/>
            </a:solidFill>
            <a:prstDash val="solid"/>
          </a:ln>
        </p:spPr>
      </p:sp>
      <p:sp>
        <p:nvSpPr>
          <p:cNvPr id="6" name="Shape 4"/>
          <p:cNvSpPr/>
          <p:nvPr/>
        </p:nvSpPr>
        <p:spPr>
          <a:xfrm>
            <a:off x="761981" y="2181423"/>
            <a:ext cx="406390" cy="406400"/>
          </a:xfrm>
          <a:prstGeom prst="ellipse">
            <a:avLst/>
          </a:prstGeom>
          <a:solidFill>
            <a:srgbClr val="C6501A"/>
          </a:solidFill>
          <a:ln w="25399">
            <a:solidFill>
              <a:srgbClr val="FAF9F6"/>
            </a:solidFill>
            <a:prstDash val="solid"/>
          </a:ln>
        </p:spPr>
      </p:sp>
      <p:sp>
        <p:nvSpPr>
          <p:cNvPr id="7" name="Text 5"/>
          <p:cNvSpPr/>
          <p:nvPr/>
        </p:nvSpPr>
        <p:spPr>
          <a:xfrm>
            <a:off x="850779" y="22893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01</a:t>
            </a:r>
            <a:endParaRPr lang="en-US" sz="1500" dirty="0"/>
          </a:p>
        </p:txBody>
      </p:sp>
      <p:sp>
        <p:nvSpPr>
          <p:cNvPr id="8" name="Shape 6"/>
          <p:cNvSpPr/>
          <p:nvPr/>
        </p:nvSpPr>
        <p:spPr>
          <a:xfrm>
            <a:off x="761981" y="2689423"/>
            <a:ext cx="2171646" cy="19050"/>
          </a:xfrm>
          <a:prstGeom prst="rect">
            <a:avLst/>
          </a:prstGeom>
          <a:solidFill>
            <a:srgbClr val="C6501A"/>
          </a:solidFill>
          <a:ln/>
        </p:spPr>
      </p:sp>
      <p:sp>
        <p:nvSpPr>
          <p:cNvPr id="9" name="Text 7"/>
          <p:cNvSpPr/>
          <p:nvPr/>
        </p:nvSpPr>
        <p:spPr>
          <a:xfrm>
            <a:off x="761981" y="2863042"/>
            <a:ext cx="2171646"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Accepted offer</a:t>
            </a:r>
            <a:endParaRPr lang="en-US" sz="2200" dirty="0"/>
          </a:p>
        </p:txBody>
      </p:sp>
      <p:sp>
        <p:nvSpPr>
          <p:cNvPr id="10" name="Shape 8"/>
          <p:cNvSpPr/>
          <p:nvPr/>
        </p:nvSpPr>
        <p:spPr>
          <a:xfrm>
            <a:off x="3340016" y="1927423"/>
            <a:ext cx="2679633" cy="3412034"/>
          </a:xfrm>
          <a:prstGeom prst="roundRect">
            <a:avLst>
              <a:gd name="adj" fmla="val 427"/>
            </a:avLst>
          </a:prstGeom>
          <a:noFill/>
          <a:ln w="25399">
            <a:solidFill>
              <a:srgbClr val="D4D2CA"/>
            </a:solidFill>
            <a:prstDash val="solid"/>
          </a:ln>
        </p:spPr>
      </p:sp>
      <p:sp>
        <p:nvSpPr>
          <p:cNvPr id="11" name="Shape 9"/>
          <p:cNvSpPr/>
          <p:nvPr/>
        </p:nvSpPr>
        <p:spPr>
          <a:xfrm>
            <a:off x="3594010" y="2181423"/>
            <a:ext cx="406390" cy="406400"/>
          </a:xfrm>
          <a:prstGeom prst="ellipse">
            <a:avLst/>
          </a:prstGeom>
          <a:solidFill>
            <a:srgbClr val="C6501A"/>
          </a:solidFill>
          <a:ln w="25399">
            <a:solidFill>
              <a:srgbClr val="FAF9F6"/>
            </a:solidFill>
            <a:prstDash val="solid"/>
          </a:ln>
        </p:spPr>
      </p:sp>
      <p:sp>
        <p:nvSpPr>
          <p:cNvPr id="12" name="Text 10"/>
          <p:cNvSpPr/>
          <p:nvPr/>
        </p:nvSpPr>
        <p:spPr>
          <a:xfrm>
            <a:off x="3682809" y="22893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02</a:t>
            </a:r>
            <a:endParaRPr lang="en-US" sz="1500" dirty="0"/>
          </a:p>
        </p:txBody>
      </p:sp>
      <p:sp>
        <p:nvSpPr>
          <p:cNvPr id="13" name="Shape 11"/>
          <p:cNvSpPr/>
          <p:nvPr/>
        </p:nvSpPr>
        <p:spPr>
          <a:xfrm>
            <a:off x="3594010" y="2689423"/>
            <a:ext cx="2171646" cy="19050"/>
          </a:xfrm>
          <a:prstGeom prst="rect">
            <a:avLst/>
          </a:prstGeom>
          <a:solidFill>
            <a:srgbClr val="C6501A"/>
          </a:solidFill>
          <a:ln/>
        </p:spPr>
      </p:sp>
      <p:sp>
        <p:nvSpPr>
          <p:cNvPr id="14" name="Text 12"/>
          <p:cNvSpPr/>
          <p:nvPr/>
        </p:nvSpPr>
        <p:spPr>
          <a:xfrm>
            <a:off x="3594010" y="2863042"/>
            <a:ext cx="2171646" cy="659209"/>
          </a:xfrm>
          <a:prstGeom prst="rect">
            <a:avLst/>
          </a:prstGeom>
          <a:noFill/>
          <a:ln/>
        </p:spPr>
        <p:txBody>
          <a:bodyPr wrap="square" lIns="0" tIns="0" rIns="0" bIns="0" rtlCol="0" anchor="t">
            <a:normAutofit/>
          </a:bodyPr>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Purchase configuration</a:t>
            </a:r>
            <a:endParaRPr lang="en-US" sz="2200" dirty="0"/>
          </a:p>
        </p:txBody>
      </p:sp>
      <p:sp>
        <p:nvSpPr>
          <p:cNvPr id="15" name="Shape 13"/>
          <p:cNvSpPr/>
          <p:nvPr/>
        </p:nvSpPr>
        <p:spPr>
          <a:xfrm>
            <a:off x="6172046" y="1927423"/>
            <a:ext cx="2679633" cy="3412034"/>
          </a:xfrm>
          <a:prstGeom prst="rect">
            <a:avLst/>
          </a:prstGeom>
          <a:solidFill>
            <a:srgbClr val="E8EDF0"/>
          </a:solidFill>
          <a:ln/>
        </p:spPr>
      </p:sp>
      <p:sp>
        <p:nvSpPr>
          <p:cNvPr id="16" name="Shape 14"/>
          <p:cNvSpPr/>
          <p:nvPr/>
        </p:nvSpPr>
        <p:spPr>
          <a:xfrm>
            <a:off x="6400640" y="2156023"/>
            <a:ext cx="406390" cy="406400"/>
          </a:xfrm>
          <a:prstGeom prst="ellipse">
            <a:avLst/>
          </a:prstGeom>
          <a:solidFill>
            <a:srgbClr val="C6501A"/>
          </a:solidFill>
          <a:ln w="25399">
            <a:solidFill>
              <a:srgbClr val="FAF9F6"/>
            </a:solidFill>
            <a:prstDash val="solid"/>
          </a:ln>
        </p:spPr>
      </p:sp>
      <p:sp>
        <p:nvSpPr>
          <p:cNvPr id="17" name="Text 15"/>
          <p:cNvSpPr/>
          <p:nvPr/>
        </p:nvSpPr>
        <p:spPr>
          <a:xfrm>
            <a:off x="6489438" y="22639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03</a:t>
            </a:r>
            <a:endParaRPr lang="en-US" sz="1500" dirty="0"/>
          </a:p>
        </p:txBody>
      </p:sp>
      <p:sp>
        <p:nvSpPr>
          <p:cNvPr id="18" name="Shape 16"/>
          <p:cNvSpPr/>
          <p:nvPr/>
        </p:nvSpPr>
        <p:spPr>
          <a:xfrm>
            <a:off x="6400640" y="2664023"/>
            <a:ext cx="2222345" cy="19050"/>
          </a:xfrm>
          <a:prstGeom prst="rect">
            <a:avLst/>
          </a:prstGeom>
          <a:solidFill>
            <a:srgbClr val="C6501A"/>
          </a:solidFill>
          <a:ln/>
        </p:spPr>
      </p:sp>
      <p:sp>
        <p:nvSpPr>
          <p:cNvPr id="19" name="Text 17"/>
          <p:cNvSpPr/>
          <p:nvPr/>
        </p:nvSpPr>
        <p:spPr>
          <a:xfrm>
            <a:off x="6400640" y="2837642"/>
            <a:ext cx="2222444" cy="659209"/>
          </a:xfrm>
          <a:prstGeom prst="rect">
            <a:avLst/>
          </a:prstGeom>
          <a:noFill/>
          <a:ln/>
        </p:spPr>
        <p:txBody>
          <a:bodyPr wrap="square" lIns="0" tIns="0" rIns="0" bIns="0" rtlCol="0" anchor="t">
            <a:normAutofit/>
          </a:bodyPr>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First-payment attempt</a:t>
            </a:r>
            <a:endParaRPr lang="en-US" sz="2200" dirty="0"/>
          </a:p>
        </p:txBody>
      </p:sp>
      <p:sp>
        <p:nvSpPr>
          <p:cNvPr id="20" name="Text 18"/>
          <p:cNvSpPr/>
          <p:nvPr/>
        </p:nvSpPr>
        <p:spPr>
          <a:xfrm>
            <a:off x="6400640" y="3692739"/>
            <a:ext cx="2451039"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Simulated behavior</a:t>
            </a:r>
            <a:endParaRPr lang="en-US" sz="1600" dirty="0"/>
          </a:p>
        </p:txBody>
      </p:sp>
      <p:sp>
        <p:nvSpPr>
          <p:cNvPr id="21" name="Shape 19"/>
          <p:cNvSpPr/>
          <p:nvPr/>
        </p:nvSpPr>
        <p:spPr>
          <a:xfrm>
            <a:off x="9004075" y="1927423"/>
            <a:ext cx="2679633" cy="3412034"/>
          </a:xfrm>
          <a:prstGeom prst="rect">
            <a:avLst/>
          </a:prstGeom>
          <a:noFill/>
          <a:ln w="12700">
            <a:solidFill>
              <a:srgbClr val="C6501A"/>
            </a:solidFill>
            <a:prstDash val="solid"/>
          </a:ln>
        </p:spPr>
      </p:sp>
      <p:sp>
        <p:nvSpPr>
          <p:cNvPr id="22" name="Shape 20"/>
          <p:cNvSpPr/>
          <p:nvPr/>
        </p:nvSpPr>
        <p:spPr>
          <a:xfrm>
            <a:off x="9245369" y="2168723"/>
            <a:ext cx="406390" cy="406400"/>
          </a:xfrm>
          <a:prstGeom prst="ellipse">
            <a:avLst/>
          </a:prstGeom>
          <a:solidFill>
            <a:srgbClr val="C6501A"/>
          </a:solidFill>
          <a:ln w="25399">
            <a:solidFill>
              <a:srgbClr val="FAF9F6"/>
            </a:solidFill>
            <a:prstDash val="solid"/>
          </a:ln>
        </p:spPr>
      </p:sp>
      <p:sp>
        <p:nvSpPr>
          <p:cNvPr id="23" name="Text 21"/>
          <p:cNvSpPr/>
          <p:nvPr/>
        </p:nvSpPr>
        <p:spPr>
          <a:xfrm>
            <a:off x="9334167" y="2276673"/>
            <a:ext cx="838278" cy="190500"/>
          </a:xfrm>
          <a:prstGeom prst="rect">
            <a:avLst/>
          </a:prstGeom>
          <a:noFill/>
          <a:ln/>
        </p:spPr>
        <p:txBody>
          <a:bodyPr wrap="none" lIns="0" tIns="0" rIns="0" bIns="0" rtlCol="0" anchor="t"/>
          <a:lstStyle/>
          <a:p>
            <a:pPr algn="l" indent="0" marL="0">
              <a:lnSpc>
                <a:spcPct val="83000"/>
              </a:lnSpc>
              <a:buNone/>
            </a:pPr>
            <a:r>
              <a:rPr lang="en-US" sz="1500" b="1" dirty="0">
                <a:solidFill>
                  <a:srgbClr val="FFFFFF"/>
                </a:solidFill>
                <a:latin typeface="Roboto Mono Bold" pitchFamily="34" charset="0"/>
                <a:ea typeface="Roboto Mono Bold" pitchFamily="34" charset="-122"/>
                <a:cs typeface="Roboto Mono Bold" pitchFamily="34" charset="-120"/>
              </a:rPr>
              <a:t>04</a:t>
            </a:r>
            <a:endParaRPr lang="en-US" sz="1500" dirty="0"/>
          </a:p>
        </p:txBody>
      </p:sp>
      <p:sp>
        <p:nvSpPr>
          <p:cNvPr id="24" name="Shape 22"/>
          <p:cNvSpPr/>
          <p:nvPr/>
        </p:nvSpPr>
        <p:spPr>
          <a:xfrm>
            <a:off x="9245369" y="2676723"/>
            <a:ext cx="2197045" cy="19050"/>
          </a:xfrm>
          <a:prstGeom prst="rect">
            <a:avLst/>
          </a:prstGeom>
          <a:solidFill>
            <a:srgbClr val="C6501A"/>
          </a:solidFill>
          <a:ln/>
        </p:spPr>
      </p:sp>
      <p:sp>
        <p:nvSpPr>
          <p:cNvPr id="25" name="Text 23"/>
          <p:cNvSpPr/>
          <p:nvPr/>
        </p:nvSpPr>
        <p:spPr>
          <a:xfrm>
            <a:off x="9245369" y="2850342"/>
            <a:ext cx="219704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Policy issued</a:t>
            </a:r>
            <a:endParaRPr lang="en-US" sz="2200" dirty="0"/>
          </a:p>
        </p:txBody>
      </p:sp>
      <p:sp>
        <p:nvSpPr>
          <p:cNvPr id="26" name="Text 24"/>
          <p:cNvSpPr/>
          <p:nvPr/>
        </p:nvSpPr>
        <p:spPr>
          <a:xfrm>
            <a:off x="9245369" y="3375835"/>
            <a:ext cx="2438339"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On validated path</a:t>
            </a:r>
            <a:endParaRPr lang="en-US" sz="1600" dirty="0"/>
          </a:p>
        </p:txBody>
      </p:sp>
      <p:sp>
        <p:nvSpPr>
          <p:cNvPr id="27" name="Text 25"/>
          <p:cNvSpPr/>
          <p:nvPr/>
        </p:nvSpPr>
        <p:spPr>
          <a:xfrm>
            <a:off x="507987" y="5570225"/>
            <a:ext cx="5359266"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Policy records</a:t>
            </a:r>
            <a:endParaRPr lang="en-US" sz="2200" dirty="0"/>
          </a:p>
        </p:txBody>
      </p:sp>
      <p:sp>
        <p:nvSpPr>
          <p:cNvPr id="28" name="Text 26"/>
          <p:cNvSpPr/>
          <p:nvPr/>
        </p:nvSpPr>
        <p:spPr>
          <a:xfrm>
            <a:off x="507987" y="6095718"/>
            <a:ext cx="5587860"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Snapshot · document metadata · installment schedule</a:t>
            </a:r>
            <a:endParaRPr lang="en-US" sz="1600" dirty="0"/>
          </a:p>
        </p:txBody>
      </p:sp>
      <p:sp>
        <p:nvSpPr>
          <p:cNvPr id="29" name="Text 27"/>
          <p:cNvSpPr/>
          <p:nvPr/>
        </p:nvSpPr>
        <p:spPr>
          <a:xfrm>
            <a:off x="6324442" y="5570225"/>
            <a:ext cx="5359266"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Servicing</a:t>
            </a:r>
            <a:endParaRPr lang="en-US" sz="2200" dirty="0"/>
          </a:p>
        </p:txBody>
      </p:sp>
      <p:sp>
        <p:nvSpPr>
          <p:cNvPr id="30" name="Text 28"/>
          <p:cNvSpPr/>
          <p:nvPr/>
        </p:nvSpPr>
        <p:spPr>
          <a:xfrm>
            <a:off x="6324442" y="6095718"/>
            <a:ext cx="5359266"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Payment history · documents · cancellation request · renewal</a:t>
            </a:r>
            <a:endParaRPr lang="en-US" sz="1600" dirty="0"/>
          </a:p>
        </p:txBody>
      </p:sp>
      <p:sp>
        <p:nvSpPr>
          <p:cNvPr id="31" name="Shape 29"/>
          <p:cNvSpPr/>
          <p:nvPr/>
        </p:nvSpPr>
        <p:spPr>
          <a:xfrm>
            <a:off x="6089498" y="5568057"/>
            <a:ext cx="12700" cy="781943"/>
          </a:xfrm>
          <a:prstGeom prst="rect">
            <a:avLst/>
          </a:prstGeom>
          <a:solidFill>
            <a:srgbClr val="3F5A6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7987" y="337630"/>
            <a:ext cx="11683708" cy="213320"/>
          </a:xfrm>
          <a:prstGeom prst="rect">
            <a:avLst/>
          </a:prstGeom>
          <a:noFill/>
          <a:ln/>
        </p:spPr>
        <p:txBody>
          <a:bodyPr wrap="none" lIns="0" tIns="0" rIns="0" bIns="0" rtlCol="0" anchor="t"/>
          <a:lstStyle/>
          <a:p>
            <a:pPr algn="l" indent="0" marL="0">
              <a:lnSpc>
                <a:spcPct val="100000"/>
              </a:lnSpc>
              <a:buNone/>
            </a:pPr>
            <a:r>
              <a:rPr lang="en-US" sz="1400" b="1" spc="84" kern="100" dirty="0">
                <a:solidFill>
                  <a:srgbClr val="3F5A6C"/>
                </a:solidFill>
                <a:latin typeface="Roboto Mono Bold" pitchFamily="34" charset="0"/>
                <a:ea typeface="Roboto Mono Bold" pitchFamily="34" charset="-122"/>
                <a:cs typeface="Roboto Mono Bold" pitchFamily="34" charset="-120"/>
              </a:rPr>
              <a:t>CLAIMS WORKFLOW</a:t>
            </a:r>
            <a:endParaRPr lang="en-US" sz="1400" dirty="0"/>
          </a:p>
        </p:txBody>
      </p:sp>
      <p:sp>
        <p:nvSpPr>
          <p:cNvPr id="3" name="Text 1"/>
          <p:cNvSpPr/>
          <p:nvPr/>
        </p:nvSpPr>
        <p:spPr>
          <a:xfrm>
            <a:off x="507987" y="669758"/>
            <a:ext cx="11175720" cy="466328"/>
          </a:xfrm>
          <a:prstGeom prst="rect">
            <a:avLst/>
          </a:prstGeom>
          <a:noFill/>
          <a:ln/>
        </p:spPr>
        <p:txBody>
          <a:bodyPr wrap="none" lIns="0" tIns="0" rIns="0" bIns="0" rtlCol="0" anchor="t"/>
          <a:lstStyle/>
          <a:p>
            <a:pPr algn="l" indent="0" marL="0">
              <a:lnSpc>
                <a:spcPct val="90000"/>
              </a:lnSpc>
              <a:buNone/>
            </a:pPr>
            <a:r>
              <a:rPr lang="en-US" sz="3400" b="1" spc="-34" kern="100" dirty="0">
                <a:solidFill>
                  <a:srgbClr val="22262B"/>
                </a:solidFill>
                <a:latin typeface="Barlow Bold" pitchFamily="34" charset="0"/>
                <a:ea typeface="Barlow Bold" pitchFamily="34" charset="-122"/>
                <a:cs typeface="Barlow Bold" pitchFamily="34" charset="-120"/>
              </a:rPr>
              <a:t>Claims move through a controlled lifecycle</a:t>
            </a:r>
            <a:endParaRPr lang="en-US" sz="3400" dirty="0"/>
          </a:p>
        </p:txBody>
      </p:sp>
      <p:sp>
        <p:nvSpPr>
          <p:cNvPr id="4" name="Shape 2"/>
          <p:cNvSpPr/>
          <p:nvPr/>
        </p:nvSpPr>
        <p:spPr>
          <a:xfrm>
            <a:off x="507987" y="1427361"/>
            <a:ext cx="11175621" cy="31651"/>
          </a:xfrm>
          <a:prstGeom prst="roundRect">
            <a:avLst>
              <a:gd name="adj" fmla="val 49998"/>
            </a:avLst>
          </a:prstGeom>
          <a:solidFill>
            <a:srgbClr val="22262B"/>
          </a:solidFill>
          <a:ln/>
        </p:spPr>
      </p:sp>
      <p:sp>
        <p:nvSpPr>
          <p:cNvPr id="5" name="Shape 3"/>
          <p:cNvSpPr/>
          <p:nvPr/>
        </p:nvSpPr>
        <p:spPr>
          <a:xfrm>
            <a:off x="507987" y="1749623"/>
            <a:ext cx="2679633" cy="1877120"/>
          </a:xfrm>
          <a:prstGeom prst="roundRect">
            <a:avLst>
              <a:gd name="adj" fmla="val 609"/>
            </a:avLst>
          </a:prstGeom>
          <a:noFill/>
          <a:ln w="25399">
            <a:solidFill>
              <a:srgbClr val="D4D2CA"/>
            </a:solidFill>
            <a:prstDash val="solid"/>
          </a:ln>
        </p:spPr>
      </p:sp>
      <p:sp>
        <p:nvSpPr>
          <p:cNvPr id="6" name="Text 4"/>
          <p:cNvSpPr/>
          <p:nvPr/>
        </p:nvSpPr>
        <p:spPr>
          <a:xfrm>
            <a:off x="761981" y="2003623"/>
            <a:ext cx="839270"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01</a:t>
            </a:r>
            <a:endParaRPr lang="en-US" sz="2000" dirty="0"/>
          </a:p>
        </p:txBody>
      </p:sp>
      <p:sp>
        <p:nvSpPr>
          <p:cNvPr id="7" name="Shape 5"/>
          <p:cNvSpPr/>
          <p:nvPr/>
        </p:nvSpPr>
        <p:spPr>
          <a:xfrm>
            <a:off x="761981" y="2359223"/>
            <a:ext cx="2171646" cy="19050"/>
          </a:xfrm>
          <a:prstGeom prst="rect">
            <a:avLst/>
          </a:prstGeom>
          <a:solidFill>
            <a:srgbClr val="C6501A"/>
          </a:solidFill>
          <a:ln/>
        </p:spPr>
      </p:sp>
      <p:sp>
        <p:nvSpPr>
          <p:cNvPr id="8" name="Text 6"/>
          <p:cNvSpPr/>
          <p:nvPr/>
        </p:nvSpPr>
        <p:spPr>
          <a:xfrm>
            <a:off x="761981" y="2532842"/>
            <a:ext cx="2171646"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Agent submits</a:t>
            </a:r>
            <a:endParaRPr lang="en-US" sz="2200" dirty="0"/>
          </a:p>
        </p:txBody>
      </p:sp>
      <p:sp>
        <p:nvSpPr>
          <p:cNvPr id="9" name="Text 7"/>
          <p:cNvSpPr/>
          <p:nvPr/>
        </p:nvSpPr>
        <p:spPr>
          <a:xfrm>
            <a:off x="761981" y="3058335"/>
            <a:ext cx="2425639"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For customer</a:t>
            </a:r>
            <a:endParaRPr lang="en-US" sz="1600" dirty="0"/>
          </a:p>
        </p:txBody>
      </p:sp>
      <p:sp>
        <p:nvSpPr>
          <p:cNvPr id="10" name="Shape 8"/>
          <p:cNvSpPr/>
          <p:nvPr/>
        </p:nvSpPr>
        <p:spPr>
          <a:xfrm>
            <a:off x="3340016" y="1749623"/>
            <a:ext cx="2679633" cy="1877120"/>
          </a:xfrm>
          <a:prstGeom prst="roundRect">
            <a:avLst>
              <a:gd name="adj" fmla="val 609"/>
            </a:avLst>
          </a:prstGeom>
          <a:noFill/>
          <a:ln w="25399">
            <a:solidFill>
              <a:srgbClr val="D4D2CA"/>
            </a:solidFill>
            <a:prstDash val="solid"/>
          </a:ln>
        </p:spPr>
      </p:sp>
      <p:sp>
        <p:nvSpPr>
          <p:cNvPr id="11" name="Text 9"/>
          <p:cNvSpPr/>
          <p:nvPr/>
        </p:nvSpPr>
        <p:spPr>
          <a:xfrm>
            <a:off x="3594010" y="2003623"/>
            <a:ext cx="893839"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02</a:t>
            </a:r>
            <a:endParaRPr lang="en-US" sz="2000" dirty="0"/>
          </a:p>
        </p:txBody>
      </p:sp>
      <p:sp>
        <p:nvSpPr>
          <p:cNvPr id="12" name="Shape 10"/>
          <p:cNvSpPr/>
          <p:nvPr/>
        </p:nvSpPr>
        <p:spPr>
          <a:xfrm>
            <a:off x="3594010" y="2359223"/>
            <a:ext cx="2171646" cy="19050"/>
          </a:xfrm>
          <a:prstGeom prst="rect">
            <a:avLst/>
          </a:prstGeom>
          <a:solidFill>
            <a:srgbClr val="C6501A"/>
          </a:solidFill>
          <a:ln/>
        </p:spPr>
      </p:sp>
      <p:sp>
        <p:nvSpPr>
          <p:cNvPr id="13" name="Text 11"/>
          <p:cNvSpPr/>
          <p:nvPr/>
        </p:nvSpPr>
        <p:spPr>
          <a:xfrm>
            <a:off x="3594010" y="2532842"/>
            <a:ext cx="2171646"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Admin assigns</a:t>
            </a:r>
            <a:endParaRPr lang="en-US" sz="2200" dirty="0"/>
          </a:p>
        </p:txBody>
      </p:sp>
      <p:sp>
        <p:nvSpPr>
          <p:cNvPr id="14" name="Text 12"/>
          <p:cNvSpPr/>
          <p:nvPr/>
        </p:nvSpPr>
        <p:spPr>
          <a:xfrm>
            <a:off x="3594010" y="3058335"/>
            <a:ext cx="2425639"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Officer</a:t>
            </a:r>
            <a:endParaRPr lang="en-US" sz="1600" dirty="0"/>
          </a:p>
        </p:txBody>
      </p:sp>
      <p:sp>
        <p:nvSpPr>
          <p:cNvPr id="15" name="Shape 13"/>
          <p:cNvSpPr/>
          <p:nvPr/>
        </p:nvSpPr>
        <p:spPr>
          <a:xfrm>
            <a:off x="6172046" y="1749623"/>
            <a:ext cx="2679633" cy="1877120"/>
          </a:xfrm>
          <a:prstGeom prst="rect">
            <a:avLst/>
          </a:prstGeom>
          <a:solidFill>
            <a:srgbClr val="E8EDF0"/>
          </a:solidFill>
          <a:ln/>
        </p:spPr>
      </p:sp>
      <p:sp>
        <p:nvSpPr>
          <p:cNvPr id="16" name="Text 14"/>
          <p:cNvSpPr/>
          <p:nvPr/>
        </p:nvSpPr>
        <p:spPr>
          <a:xfrm>
            <a:off x="6400640" y="1978223"/>
            <a:ext cx="888779"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03</a:t>
            </a:r>
            <a:endParaRPr lang="en-US" sz="2000" dirty="0"/>
          </a:p>
        </p:txBody>
      </p:sp>
      <p:sp>
        <p:nvSpPr>
          <p:cNvPr id="17" name="Shape 15"/>
          <p:cNvSpPr/>
          <p:nvPr/>
        </p:nvSpPr>
        <p:spPr>
          <a:xfrm>
            <a:off x="6400640" y="2333823"/>
            <a:ext cx="2222345" cy="19050"/>
          </a:xfrm>
          <a:prstGeom prst="rect">
            <a:avLst/>
          </a:prstGeom>
          <a:solidFill>
            <a:srgbClr val="C6501A"/>
          </a:solidFill>
          <a:ln/>
        </p:spPr>
      </p:sp>
      <p:sp>
        <p:nvSpPr>
          <p:cNvPr id="18" name="Text 16"/>
          <p:cNvSpPr/>
          <p:nvPr/>
        </p:nvSpPr>
        <p:spPr>
          <a:xfrm>
            <a:off x="6400640" y="2507442"/>
            <a:ext cx="2222444"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Officer reviews</a:t>
            </a:r>
            <a:endParaRPr lang="en-US" sz="2200" dirty="0"/>
          </a:p>
        </p:txBody>
      </p:sp>
      <p:sp>
        <p:nvSpPr>
          <p:cNvPr id="19" name="Shape 17"/>
          <p:cNvSpPr/>
          <p:nvPr/>
        </p:nvSpPr>
        <p:spPr>
          <a:xfrm>
            <a:off x="9004075" y="1749623"/>
            <a:ext cx="2679633" cy="1877120"/>
          </a:xfrm>
          <a:prstGeom prst="rect">
            <a:avLst/>
          </a:prstGeom>
          <a:noFill/>
          <a:ln w="12700">
            <a:solidFill>
              <a:srgbClr val="C6501A"/>
            </a:solidFill>
            <a:prstDash val="solid"/>
          </a:ln>
        </p:spPr>
      </p:sp>
      <p:sp>
        <p:nvSpPr>
          <p:cNvPr id="20" name="Text 18"/>
          <p:cNvSpPr/>
          <p:nvPr/>
        </p:nvSpPr>
        <p:spPr>
          <a:xfrm>
            <a:off x="9245369" y="1990923"/>
            <a:ext cx="902471"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04</a:t>
            </a:r>
            <a:endParaRPr lang="en-US" sz="2000" dirty="0"/>
          </a:p>
        </p:txBody>
      </p:sp>
      <p:sp>
        <p:nvSpPr>
          <p:cNvPr id="21" name="Shape 19"/>
          <p:cNvSpPr/>
          <p:nvPr/>
        </p:nvSpPr>
        <p:spPr>
          <a:xfrm>
            <a:off x="9245369" y="2346523"/>
            <a:ext cx="2197045" cy="19050"/>
          </a:xfrm>
          <a:prstGeom prst="rect">
            <a:avLst/>
          </a:prstGeom>
          <a:solidFill>
            <a:srgbClr val="C6501A"/>
          </a:solidFill>
          <a:ln/>
        </p:spPr>
      </p:sp>
      <p:sp>
        <p:nvSpPr>
          <p:cNvPr id="22" name="Text 20"/>
          <p:cNvSpPr/>
          <p:nvPr/>
        </p:nvSpPr>
        <p:spPr>
          <a:xfrm>
            <a:off x="9245369" y="2520142"/>
            <a:ext cx="2197045"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Approve or reject</a:t>
            </a:r>
            <a:endParaRPr lang="en-US" sz="2200" dirty="0"/>
          </a:p>
        </p:txBody>
      </p:sp>
      <p:sp>
        <p:nvSpPr>
          <p:cNvPr id="23" name="Shape 21"/>
          <p:cNvSpPr/>
          <p:nvPr/>
        </p:nvSpPr>
        <p:spPr>
          <a:xfrm>
            <a:off x="507987" y="3779143"/>
            <a:ext cx="3623577" cy="1877219"/>
          </a:xfrm>
          <a:prstGeom prst="roundRect">
            <a:avLst>
              <a:gd name="adj" fmla="val 609"/>
            </a:avLst>
          </a:prstGeom>
          <a:noFill/>
          <a:ln w="25399">
            <a:solidFill>
              <a:srgbClr val="D4D2CA"/>
            </a:solidFill>
            <a:prstDash val="solid"/>
          </a:ln>
        </p:spPr>
      </p:sp>
      <p:sp>
        <p:nvSpPr>
          <p:cNvPr id="24" name="Text 22"/>
          <p:cNvSpPr/>
          <p:nvPr/>
        </p:nvSpPr>
        <p:spPr>
          <a:xfrm>
            <a:off x="761981" y="4033143"/>
            <a:ext cx="888482"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05</a:t>
            </a:r>
            <a:endParaRPr lang="en-US" sz="2000" dirty="0"/>
          </a:p>
        </p:txBody>
      </p:sp>
      <p:sp>
        <p:nvSpPr>
          <p:cNvPr id="25" name="Shape 23"/>
          <p:cNvSpPr/>
          <p:nvPr/>
        </p:nvSpPr>
        <p:spPr>
          <a:xfrm>
            <a:off x="761981" y="4388743"/>
            <a:ext cx="3115490" cy="19050"/>
          </a:xfrm>
          <a:prstGeom prst="rect">
            <a:avLst/>
          </a:prstGeom>
          <a:solidFill>
            <a:srgbClr val="C6501A"/>
          </a:solidFill>
          <a:ln/>
        </p:spPr>
      </p:sp>
      <p:sp>
        <p:nvSpPr>
          <p:cNvPr id="26" name="Text 24"/>
          <p:cNvSpPr/>
          <p:nvPr/>
        </p:nvSpPr>
        <p:spPr>
          <a:xfrm>
            <a:off x="761981" y="4562361"/>
            <a:ext cx="3115589"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Settle</a:t>
            </a:r>
            <a:endParaRPr lang="en-US" sz="2200" dirty="0"/>
          </a:p>
        </p:txBody>
      </p:sp>
      <p:sp>
        <p:nvSpPr>
          <p:cNvPr id="27" name="Shape 25"/>
          <p:cNvSpPr/>
          <p:nvPr/>
        </p:nvSpPr>
        <p:spPr>
          <a:xfrm>
            <a:off x="4283960" y="3779143"/>
            <a:ext cx="3623676" cy="1877219"/>
          </a:xfrm>
          <a:prstGeom prst="roundRect">
            <a:avLst>
              <a:gd name="adj" fmla="val 609"/>
            </a:avLst>
          </a:prstGeom>
          <a:noFill/>
          <a:ln w="25399">
            <a:solidFill>
              <a:srgbClr val="D4D2CA"/>
            </a:solidFill>
            <a:prstDash val="solid"/>
          </a:ln>
        </p:spPr>
      </p:sp>
      <p:sp>
        <p:nvSpPr>
          <p:cNvPr id="28" name="Text 26"/>
          <p:cNvSpPr/>
          <p:nvPr/>
        </p:nvSpPr>
        <p:spPr>
          <a:xfrm>
            <a:off x="4537954" y="4033143"/>
            <a:ext cx="888283"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06</a:t>
            </a:r>
            <a:endParaRPr lang="en-US" sz="2000" dirty="0"/>
          </a:p>
        </p:txBody>
      </p:sp>
      <p:sp>
        <p:nvSpPr>
          <p:cNvPr id="29" name="Shape 27"/>
          <p:cNvSpPr/>
          <p:nvPr/>
        </p:nvSpPr>
        <p:spPr>
          <a:xfrm>
            <a:off x="4537954" y="4388743"/>
            <a:ext cx="3115688" cy="19050"/>
          </a:xfrm>
          <a:prstGeom prst="rect">
            <a:avLst/>
          </a:prstGeom>
          <a:solidFill>
            <a:srgbClr val="C6501A"/>
          </a:solidFill>
          <a:ln/>
        </p:spPr>
      </p:sp>
      <p:sp>
        <p:nvSpPr>
          <p:cNvPr id="30" name="Text 28"/>
          <p:cNvSpPr/>
          <p:nvPr/>
        </p:nvSpPr>
        <p:spPr>
          <a:xfrm>
            <a:off x="4537954" y="4562361"/>
            <a:ext cx="31156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Close</a:t>
            </a:r>
            <a:endParaRPr lang="en-US" sz="2200" dirty="0"/>
          </a:p>
        </p:txBody>
      </p:sp>
      <p:sp>
        <p:nvSpPr>
          <p:cNvPr id="31" name="Shape 29"/>
          <p:cNvSpPr/>
          <p:nvPr/>
        </p:nvSpPr>
        <p:spPr>
          <a:xfrm>
            <a:off x="8060032" y="3779143"/>
            <a:ext cx="3623676" cy="1877219"/>
          </a:xfrm>
          <a:prstGeom prst="roundRect">
            <a:avLst>
              <a:gd name="adj" fmla="val 609"/>
            </a:avLst>
          </a:prstGeom>
          <a:noFill/>
          <a:ln w="25399">
            <a:solidFill>
              <a:srgbClr val="D4D2CA"/>
            </a:solidFill>
            <a:prstDash val="solid"/>
          </a:ln>
        </p:spPr>
      </p:sp>
      <p:sp>
        <p:nvSpPr>
          <p:cNvPr id="32" name="Text 30"/>
          <p:cNvSpPr/>
          <p:nvPr/>
        </p:nvSpPr>
        <p:spPr>
          <a:xfrm>
            <a:off x="8314026" y="4033143"/>
            <a:ext cx="877866" cy="254000"/>
          </a:xfrm>
          <a:prstGeom prst="rect">
            <a:avLst/>
          </a:prstGeom>
          <a:noFill/>
          <a:ln/>
        </p:spPr>
        <p:txBody>
          <a:bodyPr wrap="none" lIns="0" tIns="0" rIns="0" bIns="0" rtlCol="0" anchor="t"/>
          <a:lstStyle/>
          <a:p>
            <a:pPr algn="l" indent="0" marL="0">
              <a:lnSpc>
                <a:spcPct val="83000"/>
              </a:lnSpc>
              <a:buNone/>
            </a:pPr>
            <a:r>
              <a:rPr lang="en-US" sz="2000" dirty="0">
                <a:solidFill>
                  <a:srgbClr val="22262B"/>
                </a:solidFill>
                <a:latin typeface="Barlow SemiBold" pitchFamily="34" charset="0"/>
                <a:ea typeface="Barlow SemiBold" pitchFamily="34" charset="-122"/>
                <a:cs typeface="Barlow SemiBold" pitchFamily="34" charset="-120"/>
              </a:rPr>
              <a:t>07</a:t>
            </a:r>
            <a:endParaRPr lang="en-US" sz="2000" dirty="0"/>
          </a:p>
        </p:txBody>
      </p:sp>
      <p:sp>
        <p:nvSpPr>
          <p:cNvPr id="33" name="Shape 31"/>
          <p:cNvSpPr/>
          <p:nvPr/>
        </p:nvSpPr>
        <p:spPr>
          <a:xfrm>
            <a:off x="8314026" y="4388743"/>
            <a:ext cx="3115688" cy="19050"/>
          </a:xfrm>
          <a:prstGeom prst="rect">
            <a:avLst/>
          </a:prstGeom>
          <a:solidFill>
            <a:srgbClr val="C6501A"/>
          </a:solidFill>
          <a:ln/>
        </p:spPr>
      </p:sp>
      <p:sp>
        <p:nvSpPr>
          <p:cNvPr id="34" name="Text 32"/>
          <p:cNvSpPr/>
          <p:nvPr/>
        </p:nvSpPr>
        <p:spPr>
          <a:xfrm>
            <a:off x="8314026" y="4562361"/>
            <a:ext cx="3115688" cy="329605"/>
          </a:xfrm>
          <a:prstGeom prst="rect">
            <a:avLst/>
          </a:prstGeom>
          <a:noFill/>
          <a:ln/>
        </p:spPr>
        <p:txBody>
          <a:bodyPr wrap="none" lIns="0" tIns="0" rIns="0" bIns="0" rtlCol="0" anchor="t"/>
          <a:lstStyle/>
          <a:p>
            <a:pPr algn="l" indent="0" marL="0">
              <a:lnSpc>
                <a:spcPct val="98000"/>
              </a:lnSpc>
              <a:buNone/>
            </a:pPr>
            <a:r>
              <a:rPr lang="en-US" sz="2200" spc="-11" kern="100" dirty="0">
                <a:solidFill>
                  <a:srgbClr val="22262B"/>
                </a:solidFill>
                <a:latin typeface="Barlow SemiBold" pitchFamily="34" charset="0"/>
                <a:ea typeface="Barlow SemiBold" pitchFamily="34" charset="-122"/>
                <a:cs typeface="Barlow SemiBold" pitchFamily="34" charset="-120"/>
              </a:rPr>
              <a:t>Customer sees status</a:t>
            </a:r>
            <a:endParaRPr lang="en-US" sz="2200" dirty="0"/>
          </a:p>
        </p:txBody>
      </p:sp>
      <p:sp>
        <p:nvSpPr>
          <p:cNvPr id="35" name="Text 33"/>
          <p:cNvSpPr/>
          <p:nvPr/>
        </p:nvSpPr>
        <p:spPr>
          <a:xfrm>
            <a:off x="507987" y="5898868"/>
            <a:ext cx="11683708" cy="268188"/>
          </a:xfrm>
          <a:prstGeom prst="rect">
            <a:avLst/>
          </a:prstGeom>
          <a:noFill/>
          <a:ln/>
        </p:spPr>
        <p:txBody>
          <a:bodyPr wrap="none" lIns="0" tIns="0" rIns="0" bIns="0" rtlCol="0" anchor="t"/>
          <a:lstStyle/>
          <a:p>
            <a:pPr algn="l" indent="0" marL="0">
              <a:lnSpc>
                <a:spcPct val="110000"/>
              </a:lnSpc>
              <a:buNone/>
            </a:pPr>
            <a:r>
              <a:rPr lang="en-US" sz="1600" dirty="0">
                <a:solidFill>
                  <a:srgbClr val="22262B"/>
                </a:solidFill>
                <a:latin typeface="Barlow" pitchFamily="34" charset="0"/>
                <a:ea typeface="Barlow" pitchFamily="34" charset="-122"/>
                <a:cs typeface="Barlow" pitchFamily="34" charset="-120"/>
              </a:rPr>
              <a:t>Incident · type · estimated loss · decision reason · approved / settled information</a:t>
            </a:r>
            <a:endParaRPr lang="en-US" sz="1600" dirty="0"/>
          </a:p>
        </p:txBody>
      </p:sp>
      <p:sp>
        <p:nvSpPr>
          <p:cNvPr id="36" name="Text 34"/>
          <p:cNvSpPr/>
          <p:nvPr/>
        </p:nvSpPr>
        <p:spPr>
          <a:xfrm>
            <a:off x="507987" y="6397625"/>
            <a:ext cx="11683708" cy="222250"/>
          </a:xfrm>
          <a:prstGeom prst="rect">
            <a:avLst/>
          </a:prstGeom>
          <a:noFill/>
          <a:ln/>
        </p:spPr>
        <p:txBody>
          <a:bodyPr wrap="none" lIns="0" tIns="0" rIns="0" bIns="0" rtlCol="0" anchor="t"/>
          <a:lstStyle/>
          <a:p>
            <a:pPr algn="l" indent="0" marL="0">
              <a:lnSpc>
                <a:spcPct val="104000"/>
              </a:lnSpc>
              <a:buNone/>
            </a:pPr>
            <a:r>
              <a:rPr lang="en-US" sz="1400" spc="28" kern="100" dirty="0">
                <a:solidFill>
                  <a:srgbClr val="4F565D"/>
                </a:solidFill>
                <a:latin typeface="Roboto Mono Medium" pitchFamily="34" charset="0"/>
                <a:ea typeface="Roboto Mono Medium" pitchFamily="34" charset="-122"/>
                <a:cs typeface="Roboto Mono Medium" pitchFamily="34" charset="-120"/>
              </a:rPr>
              <a:t>In progress: Claims Adjuster vs ClaimsOfficer alignment.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2026-10-09T03:39:05Z</dcterms:created>
  <dcterms:modified xsi:type="dcterms:W3CDTF">2026-10-09T03:39:05Z</dcterms:modified>
</cp:coreProperties>
</file>